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charts/chart1.xml" ContentType="application/vnd.openxmlformats-officedocument.drawingml.chart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notesMasterIdLst>
    <p:notesMasterId r:id="rId5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notesMaster" Target="notesMasters/notesMaster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</c:v>
                </c:pt>
              </c:strCache>
            </c:strRef>
          </c:tx>
          <c:spPr>
            <a:solidFill>
              <a:srgbClr val="7CB34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Fév</c:v>
                  </c:pt>
                  <c:pt idx="2">
                    <c:v>Mar</c:v>
                  </c:pt>
                  <c:pt idx="3">
                    <c:v>Avr</c:v>
                  </c:pt>
                  <c:pt idx="4">
                    <c:v>Mai</c:v>
                  </c:pt>
                  <c:pt idx="5">
                    <c:v>Juin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6200</c:v>
                </c:pt>
                <c:pt idx="1">
                  <c:v>7100</c:v>
                </c:pt>
                <c:pt idx="2">
                  <c:v>5800</c:v>
                </c:pt>
                <c:pt idx="3">
                  <c:v>8400</c:v>
                </c:pt>
                <c:pt idx="4">
                  <c:v>9100</c:v>
                </c:pt>
                <c:pt idx="5">
                  <c:v>12300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6E6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6E6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Intro. Parcours des fondamentaux au code. 9 domaines, 4 couches, 13 tables, 46 endpoints.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2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" Target="slide2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" Target="slide2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" Target="slide2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" Target="slide2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" Target="slide2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" Target="slide2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" Target="slide2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" Target="slide2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" Target="slide2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" Target="slide2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" Target="slide2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" Target="slide2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" Target="slide2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" Target="slide17.xml"/><Relationship Id="rId2" Type="http://schemas.openxmlformats.org/officeDocument/2006/relationships/slide" Target="slide18.xml"/><Relationship Id="rId3" Type="http://schemas.openxmlformats.org/officeDocument/2006/relationships/slide" Target="slide19.xml"/><Relationship Id="rId4" Type="http://schemas.openxmlformats.org/officeDocument/2006/relationships/slide" Target="slide20.xml"/><Relationship Id="rId5" Type="http://schemas.openxmlformats.org/officeDocument/2006/relationships/slide" Target="slide21.xml"/><Relationship Id="rId6" Type="http://schemas.openxmlformats.org/officeDocument/2006/relationships/slide" Target="slide22.xml"/><Relationship Id="rId7" Type="http://schemas.openxmlformats.org/officeDocument/2006/relationships/slide" Target="slide23.xml"/><Relationship Id="rId8" Type="http://schemas.openxmlformats.org/officeDocument/2006/relationships/slide" Target="slide24.xml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" Target="slide29.xml"/><Relationship Id="rId2" Type="http://schemas.openxmlformats.org/officeDocument/2006/relationships/slide" Target="slide1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" Target="slide29.xml"/><Relationship Id="rId2" Type="http://schemas.openxmlformats.org/officeDocument/2006/relationships/slide" Target="slide1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" Target="slide29.xml"/><Relationship Id="rId2" Type="http://schemas.openxmlformats.org/officeDocument/2006/relationships/slide" Target="slide1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" Target="slide29.xml"/><Relationship Id="rId2" Type="http://schemas.openxmlformats.org/officeDocument/2006/relationships/slide" Target="slide1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" Target="slide29.xml"/><Relationship Id="rId2" Type="http://schemas.openxmlformats.org/officeDocument/2006/relationships/slide" Target="slide1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" Target="slide29.xml"/><Relationship Id="rId2" Type="http://schemas.openxmlformats.org/officeDocument/2006/relationships/slide" Target="slide1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" Target="slide29.xml"/><Relationship Id="rId2" Type="http://schemas.openxmlformats.org/officeDocument/2006/relationships/slide" Target="slide1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" Target="slide29.xml"/><Relationship Id="rId2" Type="http://schemas.openxmlformats.org/officeDocument/2006/relationships/slide" Target="slide1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" Target="slide2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" Target="slide2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" Target="slide2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" Target="slide2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" Target="slide30.xml"/><Relationship Id="rId2" Type="http://schemas.openxmlformats.org/officeDocument/2006/relationships/slide" Target="slide31.xml"/><Relationship Id="rId3" Type="http://schemas.openxmlformats.org/officeDocument/2006/relationships/slide" Target="slide32.xml"/><Relationship Id="rId4" Type="http://schemas.openxmlformats.org/officeDocument/2006/relationships/slide" Target="slide33.xml"/><Relationship Id="rId5" Type="http://schemas.openxmlformats.org/officeDocument/2006/relationships/slide" Target="slide34.xml"/><Relationship Id="rId6" Type="http://schemas.openxmlformats.org/officeDocument/2006/relationships/slide" Target="slide35.xml"/><Relationship Id="rId7" Type="http://schemas.openxmlformats.org/officeDocument/2006/relationships/slide" Target="slide36.xml"/><Relationship Id="rId8" Type="http://schemas.openxmlformats.org/officeDocument/2006/relationships/slide" Target="slide37.xml"/><Relationship Id="rId9" Type="http://schemas.openxmlformats.org/officeDocument/2006/relationships/slide" Target="slide38.xml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" Target="slide2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" Target="slide2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" Target="slide2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" Target="slide2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" Target="slide2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" Target="slide2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" Target="slide2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" Target="slide2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" Target="slide2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" Target="slide2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" Target="slide2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" Target="slide2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" Target="slide43.xml"/><Relationship Id="rId2" Type="http://schemas.openxmlformats.org/officeDocument/2006/relationships/slide" Target="slide44.xml"/><Relationship Id="rId3" Type="http://schemas.openxmlformats.org/officeDocument/2006/relationships/slide" Target="slide45.xml"/><Relationship Id="rId4" Type="http://schemas.openxmlformats.org/officeDocument/2006/relationships/slide" Target="slide46.xml"/><Relationship Id="rId5" Type="http://schemas.openxmlformats.org/officeDocument/2006/relationships/slide" Target="slide47.xm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" Target="slide29.xml"/><Relationship Id="rId2" Type="http://schemas.openxmlformats.org/officeDocument/2006/relationships/slide" Target="slide4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" Target="slide29.xml"/><Relationship Id="rId2" Type="http://schemas.openxmlformats.org/officeDocument/2006/relationships/slide" Target="slide42.xml"/><Relationship Id="rId3" Type="http://schemas.openxmlformats.org/officeDocument/2006/relationships/chart" Target="/ppt/charts/chart1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" Target="slide29.xml"/><Relationship Id="rId2" Type="http://schemas.openxmlformats.org/officeDocument/2006/relationships/slide" Target="slide4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" Target="slide29.xml"/><Relationship Id="rId2" Type="http://schemas.openxmlformats.org/officeDocument/2006/relationships/slide" Target="slide4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" Target="slide29.xml"/><Relationship Id="rId2" Type="http://schemas.openxmlformats.org/officeDocument/2006/relationships/slide" Target="slide4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" Target="slide2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" Target="slide2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" Target="slide2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2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914400"/>
            <a:ext cx="3840480" cy="3840480"/>
          </a:xfrm>
          <a:prstGeom prst="ellipse">
            <a:avLst/>
          </a:prstGeom>
          <a:solidFill>
            <a:srgbClr val="1C3526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1645920"/>
            <a:ext cx="2377440" cy="2377440"/>
          </a:xfrm>
          <a:prstGeom prst="ellipse">
            <a:avLst/>
          </a:prstGeom>
          <a:solidFill>
            <a:srgbClr val="4E7A24"/>
          </a:solidFill>
          <a:ln/>
        </p:spPr>
      </p:sp>
      <p:sp>
        <p:nvSpPr>
          <p:cNvPr id="4" name="Shape 2"/>
          <p:cNvSpPr/>
          <p:nvPr/>
        </p:nvSpPr>
        <p:spPr>
          <a:xfrm>
            <a:off x="10561320" y="2148840"/>
            <a:ext cx="1371600" cy="1371600"/>
          </a:xfrm>
          <a:prstGeom prst="ellipse">
            <a:avLst/>
          </a:prstGeom>
          <a:solidFill>
            <a:srgbClr val="7CB34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ED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TECHNIQUE · DWWM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182880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PearTech — le backend en détail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7D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· Node.js + Express · MySQL — des fondamentaux du web jusqu'au code de chaque domaine.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44348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CB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640080" y="5074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06040" y="44348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CB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2606040" y="5074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0" y="44348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CB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4572000" y="5074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37960" y="44348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CB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537960" y="5074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59893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3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parcours complet : fondamentaux → architecture → sécurité → données → domaines → code.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FONDAMENTAUX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API REST, c'est quoi 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362895" y="384048"/>
            <a:ext cx="1325880" cy="365760"/>
          </a:xfrm>
          <a:prstGeom prst="roundRect">
            <a:avLst>
              <a:gd name="adj" fmla="val 20000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5" name="Text 3">
            <a:hlinkClick r:id="rId1" tooltip="Aller au menu" action="ppaction://hlinksldjump"/>
          </p:cNvPr>
          <p:cNvSpPr/>
          <p:nvPr/>
        </p:nvSpPr>
        <p:spPr>
          <a:xfrm>
            <a:off x="10362895" y="38404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Aller au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 Menu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1481328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L'API est la seule porte d'entrée du backend. Le front (pages HTML du dossier ordi/) ne touche jamais la base : il demande, l'API répond.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66928" y="2423160"/>
            <a:ext cx="61264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= Application Programming Interface : la liste des « commandes » offertes par le backend.</a:t>
            </a:r>
            <a:endParaRPr lang="en-US" sz="1300" dirty="0"/>
          </a:p>
          <a:p>
            <a:pPr marL="177800" indent="-1778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: chaque ressource (produit, commande…) a une URL, manipulée avec les verbes HTTP.</a:t>
            </a:r>
            <a:endParaRPr lang="en-US" sz="1300" dirty="0"/>
          </a:p>
          <a:p>
            <a:pPr marL="177800" indent="-1778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Échanges en JSON : un format texte léger que le JavaScript du front lit directement.</a:t>
            </a:r>
            <a:endParaRPr lang="en-US" sz="1300" dirty="0"/>
          </a:p>
          <a:p>
            <a:pPr marL="177800" indent="-1778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état (stateless) : chaque requête porte elle-même son identité (le token JWT).</a:t>
            </a:r>
            <a:endParaRPr lang="en-US" sz="1300" dirty="0"/>
          </a:p>
          <a:p>
            <a:pPr marL="177800" indent="-1778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Découplage : le même backend peut servir le site, une future app mobile, un partenaire…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086600" y="1783080"/>
            <a:ext cx="4434840" cy="914400"/>
          </a:xfrm>
          <a:prstGeom prst="roundRect">
            <a:avLst>
              <a:gd name="adj" fmla="val 10000"/>
            </a:avLst>
          </a:prstGeom>
          <a:solidFill>
            <a:srgbClr val="ECEFEA"/>
          </a:solidFill>
          <a:ln w="12700">
            <a:solidFill>
              <a:srgbClr val="D9E2C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287768" y="1929384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— pages HTML (ordi/)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287768" y="2295144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navigateur du client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086600" y="3246120"/>
            <a:ext cx="4434840" cy="914400"/>
          </a:xfrm>
          <a:prstGeom prst="roundRect">
            <a:avLst>
              <a:gd name="adj" fmla="val 10000"/>
            </a:avLst>
          </a:prstGeom>
          <a:solidFill>
            <a:srgbClr val="EAF3DD"/>
          </a:solidFill>
          <a:ln w="12700">
            <a:solidFill>
              <a:srgbClr val="D9E2C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287768" y="3392424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— Express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87768" y="3758184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→ controllers → services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086600" y="4709160"/>
            <a:ext cx="4434840" cy="914400"/>
          </a:xfrm>
          <a:prstGeom prst="roundRect">
            <a:avLst>
              <a:gd name="adj" fmla="val 10000"/>
            </a:avLst>
          </a:prstGeom>
          <a:solidFill>
            <a:srgbClr val="E3EEFB"/>
          </a:solidFill>
          <a:ln w="12700">
            <a:solidFill>
              <a:srgbClr val="D9E2C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287768" y="4855464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MySQL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287768" y="5221224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tables relationnelles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589520" y="2724912"/>
            <a:ext cx="0" cy="475488"/>
          </a:xfrm>
          <a:prstGeom prst="line">
            <a:avLst/>
          </a:prstGeom>
          <a:noFill/>
          <a:ln w="25400">
            <a:solidFill>
              <a:srgbClr val="7CB342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863840" y="27614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 — GET /api/produits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589520" y="4187952"/>
            <a:ext cx="0" cy="475488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7863840" y="42245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 SQL préparée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086600" y="576072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la réponse remonte en sens inverse : MySQL → API → JSON → front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PearTech · API REST backend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FONDAMENTAUX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Anatomie d'une requête et d'une réponse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362895" y="384048"/>
            <a:ext cx="1325880" cy="365760"/>
          </a:xfrm>
          <a:prstGeom prst="roundRect">
            <a:avLst>
              <a:gd name="adj" fmla="val 20000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5" name="Text 3">
            <a:hlinkClick r:id="rId1" tooltip="Aller au menu" action="ppaction://hlinksldjump"/>
          </p:cNvPr>
          <p:cNvSpPr/>
          <p:nvPr/>
        </p:nvSpPr>
        <p:spPr>
          <a:xfrm>
            <a:off x="10362895" y="38404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Aller au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 Menu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1554480"/>
            <a:ext cx="5486400" cy="3154680"/>
          </a:xfrm>
          <a:prstGeom prst="roundRect">
            <a:avLst>
              <a:gd name="adj" fmla="val 2899"/>
            </a:avLst>
          </a:prstGeom>
          <a:solidFill>
            <a:srgbClr val="11231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190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ED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REQUÊTE  (envoyée par le front)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103120"/>
            <a:ext cx="5120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7CB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/api/auth/connexion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Authorization: Bearer eyJhbGciOi...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Content-Type: application/json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"email": "lea@mail.fr",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"motDePasse": "azerty123"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554480"/>
            <a:ext cx="5486400" cy="3154680"/>
          </a:xfrm>
          <a:prstGeom prst="roundRect">
            <a:avLst>
              <a:gd name="adj" fmla="val 2899"/>
            </a:avLst>
          </a:prstGeom>
          <a:solidFill>
            <a:srgbClr val="11231A"/>
          </a:solidFill>
          <a:ln/>
        </p:spPr>
      </p:sp>
      <p:sp>
        <p:nvSpPr>
          <p:cNvPr id="10" name="Text 8"/>
          <p:cNvSpPr/>
          <p:nvPr/>
        </p:nvSpPr>
        <p:spPr>
          <a:xfrm>
            <a:off x="6473952" y="17190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ED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RÉPONSE  (renvoyée par l'API)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73952" y="2103120"/>
            <a:ext cx="5120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AED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OK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Content-Type: application/json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"message": "Connexion réussie.",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"token": "eyJhbGciOiJIUzI1...",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"utilisateur": { "id": 4, "role":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"client" }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4892040"/>
            <a:ext cx="11183112" cy="1188720"/>
          </a:xfrm>
          <a:prstGeom prst="roundRect">
            <a:avLst>
              <a:gd name="adj" fmla="val 7692"/>
            </a:avLst>
          </a:prstGeom>
          <a:solidFill>
            <a:srgbClr val="F3F7EC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5029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4 PARTIES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2960" y="534924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+ URL —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l'action et la ressource visées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566160" y="534924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En-têtes —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métadonnées, dont Authorization: Bearer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309360" y="534924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Corps (body) —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envoyées, en JSON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052560" y="534924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—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code de statut + un corps JSON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PearTech · API REST backend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FONDAMENTAUX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codes de statut HTTP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362895" y="384048"/>
            <a:ext cx="1325880" cy="365760"/>
          </a:xfrm>
          <a:prstGeom prst="roundRect">
            <a:avLst>
              <a:gd name="adj" fmla="val 20000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5" name="Text 3">
            <a:hlinkClick r:id="rId1" tooltip="Aller au menu" action="ppaction://hlinksldjump"/>
          </p:cNvPr>
          <p:cNvSpPr/>
          <p:nvPr/>
        </p:nvSpPr>
        <p:spPr>
          <a:xfrm>
            <a:off x="10362895" y="38404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Aller au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 Menu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réponse commence toujours par un nombre : il dit en un coup d'œil si la requête a réussi, et sinon pourquoi.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196596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EAF3DD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95528" y="216712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813816" y="286207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3816" y="318211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/ mise à jour réussie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29000" y="196596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EAF3DD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0" y="216712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675888" y="286207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75888" y="318211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 · ajout panier · commande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91072" y="196596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FBF0D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19672" y="216712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A6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400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537960" y="286207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Request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37960" y="318211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invalide (valider)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53144" y="196596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FBF0D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381744" y="216712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A6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401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9400032" y="286207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400032" y="318211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connecté / token invalide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3904488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FBF0D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95528" y="4105656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A6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403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813816" y="48006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Forbidden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13816" y="51206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connecté mais pas administrateur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429000" y="3904488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FBF0D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0" y="4105656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A6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404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3675888" y="48006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Found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675888" y="51206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 introuvable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91072" y="3904488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FBF0D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519672" y="4105656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A6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409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6537960" y="48006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537960" y="51206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ou avis en double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153144" y="3904488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FBE5E5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9381744" y="4105656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3600" dirty="0"/>
          </a:p>
        </p:txBody>
      </p:sp>
      <p:sp>
        <p:nvSpPr>
          <p:cNvPr id="37" name="Text 35"/>
          <p:cNvSpPr/>
          <p:nvPr/>
        </p:nvSpPr>
        <p:spPr>
          <a:xfrm>
            <a:off x="9400032" y="48006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Error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400032" y="51206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serveur (détail masqué)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66928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Famille : 2xx = succès (vert) · 4xx = erreur côté client (ambre) · 5xx = erreur côté serveur (rouge).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PearTech · API REST backend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FONDAMENTAUX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routes : les portes d'entrée de l'API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362895" y="384048"/>
            <a:ext cx="1325880" cy="365760"/>
          </a:xfrm>
          <a:prstGeom prst="roundRect">
            <a:avLst>
              <a:gd name="adj" fmla="val 20000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5" name="Text 3">
            <a:hlinkClick r:id="rId1" tooltip="Aller au menu" action="ppaction://hlinksldjump"/>
          </p:cNvPr>
          <p:cNvSpPr/>
          <p:nvPr/>
        </p:nvSpPr>
        <p:spPr>
          <a:xfrm>
            <a:off x="10362895" y="38404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Aller au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 Menu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146304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route = une URL + un verbe HTTP → une action précise. C'est le plan d'adressage de l'API.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2194560"/>
            <a:ext cx="1417320" cy="868680"/>
          </a:xfrm>
          <a:prstGeom prst="roundRect">
            <a:avLst>
              <a:gd name="adj" fmla="val 10526"/>
            </a:avLst>
          </a:prstGeom>
          <a:solidFill>
            <a:srgbClr val="E3EEFB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229514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262432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093976" y="2194560"/>
            <a:ext cx="1417320" cy="868680"/>
          </a:xfrm>
          <a:prstGeom prst="roundRect">
            <a:avLst>
              <a:gd name="adj" fmla="val 10526"/>
            </a:avLst>
          </a:prstGeom>
          <a:solidFill>
            <a:srgbClr val="EAF3DD"/>
          </a:solidFill>
          <a:ln/>
        </p:spPr>
      </p:sp>
      <p:sp>
        <p:nvSpPr>
          <p:cNvPr id="11" name="Text 9"/>
          <p:cNvSpPr/>
          <p:nvPr/>
        </p:nvSpPr>
        <p:spPr>
          <a:xfrm>
            <a:off x="2093976" y="229514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093976" y="262432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21024" y="2194560"/>
            <a:ext cx="1417320" cy="868680"/>
          </a:xfrm>
          <a:prstGeom prst="roundRect">
            <a:avLst>
              <a:gd name="adj" fmla="val 10526"/>
            </a:avLst>
          </a:prstGeom>
          <a:solidFill>
            <a:srgbClr val="FBF0D8"/>
          </a:solidFill>
          <a:ln/>
        </p:spPr>
      </p:sp>
      <p:sp>
        <p:nvSpPr>
          <p:cNvPr id="14" name="Text 12"/>
          <p:cNvSpPr/>
          <p:nvPr/>
        </p:nvSpPr>
        <p:spPr>
          <a:xfrm>
            <a:off x="3621024" y="229514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21024" y="262432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148072" y="2194560"/>
            <a:ext cx="1417320" cy="868680"/>
          </a:xfrm>
          <a:prstGeom prst="roundRect">
            <a:avLst>
              <a:gd name="adj" fmla="val 10526"/>
            </a:avLst>
          </a:prstGeom>
          <a:solidFill>
            <a:srgbClr val="FBE5E5"/>
          </a:solidFill>
          <a:ln/>
        </p:spPr>
      </p:sp>
      <p:sp>
        <p:nvSpPr>
          <p:cNvPr id="17" name="Text 15"/>
          <p:cNvSpPr/>
          <p:nvPr/>
        </p:nvSpPr>
        <p:spPr>
          <a:xfrm>
            <a:off x="5148072" y="229514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48072" y="262432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66928" y="3337560"/>
            <a:ext cx="6126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server.js on monte chaque groupe :  app.use('/api/produits', produitRoutes).</a:t>
            </a:r>
            <a:endParaRPr lang="en-US" sz="1300" dirty="0"/>
          </a:p>
          <a:p>
            <a:pPr marL="177800" indent="-1778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fichier route relie une URL à un contrôleur :  router.get('/:id', produit.trouver).</a:t>
            </a:r>
            <a:endParaRPr lang="en-US" sz="1300" dirty="0"/>
          </a:p>
          <a:p>
            <a:pPr marL="177800" indent="-1778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fichier route ne contient AUCUNE logique : il aiguille et y branche les middlewares.</a:t>
            </a:r>
            <a:endParaRPr lang="en-US" sz="1300" dirty="0"/>
          </a:p>
          <a:p>
            <a:pPr marL="177800" indent="-1778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fichier route par domaine → toutes les portes d'un domaine se lisent d'un coup d'œil.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040880" y="1783080"/>
            <a:ext cx="4709160" cy="4297680"/>
          </a:xfrm>
          <a:prstGeom prst="roundRect">
            <a:avLst>
              <a:gd name="adj" fmla="val 2553"/>
            </a:avLst>
          </a:prstGeom>
          <a:solidFill>
            <a:srgbClr val="F3F7EC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269480" y="19933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: LE DOMAINE PRODUITS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269480" y="2377440"/>
            <a:ext cx="868680" cy="310896"/>
          </a:xfrm>
          <a:prstGeom prst="roundRect">
            <a:avLst>
              <a:gd name="adj" fmla="val 11765"/>
            </a:avLst>
          </a:prstGeom>
          <a:solidFill>
            <a:srgbClr val="E3EEFB"/>
          </a:solidFill>
          <a:ln/>
        </p:spPr>
      </p:sp>
      <p:sp>
        <p:nvSpPr>
          <p:cNvPr id="23" name="Text 21"/>
          <p:cNvSpPr/>
          <p:nvPr/>
        </p:nvSpPr>
        <p:spPr>
          <a:xfrm>
            <a:off x="7269480" y="237744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229600" y="237744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/api/produits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0" y="26883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lister le catalogue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269480" y="3090672"/>
            <a:ext cx="868680" cy="310896"/>
          </a:xfrm>
          <a:prstGeom prst="roundRect">
            <a:avLst>
              <a:gd name="adj" fmla="val 11765"/>
            </a:avLst>
          </a:prstGeom>
          <a:solidFill>
            <a:srgbClr val="E3EEFB"/>
          </a:solidFill>
          <a:ln/>
        </p:spPr>
      </p:sp>
      <p:sp>
        <p:nvSpPr>
          <p:cNvPr id="27" name="Text 25"/>
          <p:cNvSpPr/>
          <p:nvPr/>
        </p:nvSpPr>
        <p:spPr>
          <a:xfrm>
            <a:off x="7269480" y="309067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229600" y="309067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/api/produits/:id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29600" y="34015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détail d'un produit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269480" y="3803904"/>
            <a:ext cx="868680" cy="310896"/>
          </a:xfrm>
          <a:prstGeom prst="roundRect">
            <a:avLst>
              <a:gd name="adj" fmla="val 11765"/>
            </a:avLst>
          </a:prstGeom>
          <a:solidFill>
            <a:srgbClr val="EAF3DD"/>
          </a:solidFill>
          <a:ln/>
        </p:spPr>
      </p:sp>
      <p:sp>
        <p:nvSpPr>
          <p:cNvPr id="31" name="Text 29"/>
          <p:cNvSpPr/>
          <p:nvPr/>
        </p:nvSpPr>
        <p:spPr>
          <a:xfrm>
            <a:off x="7269480" y="380390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29600" y="380390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/api/produits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229600" y="4114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(admin)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269480" y="4517136"/>
            <a:ext cx="868680" cy="310896"/>
          </a:xfrm>
          <a:prstGeom prst="roundRect">
            <a:avLst>
              <a:gd name="adj" fmla="val 11765"/>
            </a:avLst>
          </a:prstGeom>
          <a:solidFill>
            <a:srgbClr val="FBF0D8"/>
          </a:solidFill>
          <a:ln/>
        </p:spPr>
      </p:sp>
      <p:sp>
        <p:nvSpPr>
          <p:cNvPr id="35" name="Text 33"/>
          <p:cNvSpPr/>
          <p:nvPr/>
        </p:nvSpPr>
        <p:spPr>
          <a:xfrm>
            <a:off x="7269480" y="451713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229600" y="451713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/api/produits/:id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229600" y="48280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(admin)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269480" y="5230368"/>
            <a:ext cx="868680" cy="310896"/>
          </a:xfrm>
          <a:prstGeom prst="roundRect">
            <a:avLst>
              <a:gd name="adj" fmla="val 11765"/>
            </a:avLst>
          </a:prstGeom>
          <a:solidFill>
            <a:srgbClr val="FBE5E5"/>
          </a:solidFill>
          <a:ln/>
        </p:spPr>
      </p:sp>
      <p:sp>
        <p:nvSpPr>
          <p:cNvPr id="39" name="Text 37"/>
          <p:cNvSpPr/>
          <p:nvPr/>
        </p:nvSpPr>
        <p:spPr>
          <a:xfrm>
            <a:off x="7269480" y="523036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229600" y="523036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/api/produits/:id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229600" y="55412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 (admin)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PearTech · API REST backend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FONDAMENTAUX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MVC : séparer pour mieux régner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362895" y="384048"/>
            <a:ext cx="1325880" cy="365760"/>
          </a:xfrm>
          <a:prstGeom prst="roundRect">
            <a:avLst>
              <a:gd name="adj" fmla="val 20000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5" name="Text 3">
            <a:hlinkClick r:id="rId1" tooltip="Aller au menu" action="ppaction://hlinksldjump"/>
          </p:cNvPr>
          <p:cNvSpPr/>
          <p:nvPr/>
        </p:nvSpPr>
        <p:spPr>
          <a:xfrm>
            <a:off x="10362895" y="38404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Aller au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 Menu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11183112" cy="868680"/>
          </a:xfrm>
          <a:prstGeom prst="roundRect">
            <a:avLst>
              <a:gd name="adj" fmla="val 10526"/>
            </a:avLst>
          </a:prstGeom>
          <a:solidFill>
            <a:srgbClr val="EAF3DD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4630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L'analogie du restaurant —  </a:t>
            </a:r>
            <a:pPr indent="0" marL="0">
              <a:buNone/>
            </a:pPr>
            <a:r>
              <a:rPr lang="en-US" sz="1300" dirty="0">
                <a:solidFill>
                  <a:srgbClr val="335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serveur (Controller) prend la commande et apporte le plat ; la cuisine (Service + Model) prépare ; le client (front) ne va jamais en cuisine. Chacun son rôle.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2560320"/>
            <a:ext cx="3630168" cy="1874520"/>
          </a:xfrm>
          <a:prstGeom prst="roundRect">
            <a:avLst>
              <a:gd name="adj" fmla="val 5854"/>
            </a:avLst>
          </a:prstGeom>
          <a:solidFill>
            <a:srgbClr val="F3F7EC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41248" y="2788920"/>
            <a:ext cx="502920" cy="502920"/>
          </a:xfrm>
          <a:prstGeom prst="ellipse">
            <a:avLst/>
          </a:prstGeom>
          <a:solidFill>
            <a:srgbClr val="7CB342"/>
          </a:solidFill>
          <a:ln/>
        </p:spPr>
      </p:sp>
      <p:sp>
        <p:nvSpPr>
          <p:cNvPr id="10" name="Text 8"/>
          <p:cNvSpPr/>
          <p:nvPr/>
        </p:nvSpPr>
        <p:spPr>
          <a:xfrm>
            <a:off x="1481328" y="281635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 — Model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41248" y="338328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données. Seul à parler à MySQL, en requêtes préparées. Une table = un modèle.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43400" y="2560320"/>
            <a:ext cx="3630168" cy="1874520"/>
          </a:xfrm>
          <a:prstGeom prst="roundRect">
            <a:avLst>
              <a:gd name="adj" fmla="val 5854"/>
            </a:avLst>
          </a:prstGeom>
          <a:solidFill>
            <a:srgbClr val="F3F7EC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2788920"/>
            <a:ext cx="502920" cy="502920"/>
          </a:xfrm>
          <a:prstGeom prst="ellipse">
            <a:avLst/>
          </a:prstGeom>
          <a:solidFill>
            <a:srgbClr val="AED581"/>
          </a:solidFill>
          <a:ln/>
        </p:spPr>
      </p:sp>
      <p:sp>
        <p:nvSpPr>
          <p:cNvPr id="14" name="Text 12"/>
          <p:cNvSpPr/>
          <p:nvPr/>
        </p:nvSpPr>
        <p:spPr>
          <a:xfrm>
            <a:off x="5257800" y="281635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— View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17720" y="338328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voit le client. Ici, pas de templates : la vue est le JSON renvoyé au front.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19872" y="2560320"/>
            <a:ext cx="3630168" cy="1874520"/>
          </a:xfrm>
          <a:prstGeom prst="roundRect">
            <a:avLst>
              <a:gd name="adj" fmla="val 5854"/>
            </a:avLst>
          </a:prstGeom>
          <a:solidFill>
            <a:srgbClr val="F3F7EC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94192" y="2788920"/>
            <a:ext cx="502920" cy="502920"/>
          </a:xfrm>
          <a:prstGeom prst="ellipse">
            <a:avLst/>
          </a:prstGeom>
          <a:solidFill>
            <a:srgbClr val="7CB342"/>
          </a:solidFill>
          <a:ln/>
        </p:spPr>
      </p:sp>
      <p:sp>
        <p:nvSpPr>
          <p:cNvPr id="18" name="Text 16"/>
          <p:cNvSpPr/>
          <p:nvPr/>
        </p:nvSpPr>
        <p:spPr>
          <a:xfrm>
            <a:off x="9034272" y="281635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— Controller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94192" y="338328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chef d'orchestre HTTP : lit la requête, appelle la logique, renvoie la réponse.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4617720"/>
            <a:ext cx="11183112" cy="1325880"/>
          </a:xfrm>
          <a:prstGeom prst="roundRect">
            <a:avLst>
              <a:gd name="adj" fmla="val 6897"/>
            </a:avLst>
          </a:prstGeom>
          <a:solidFill>
            <a:srgbClr val="F1F1EC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7731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SÉPARER ?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512064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Maintenable —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bug SQL ? on ne regarde que le Model.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98848" y="512064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Testable —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teste un service sans lancer Express ni HTTP.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129016" y="512064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Évolutif —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changer MySQL n'impacte que les Models.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PearTech · API REST backend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FONDAMENTAUX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4 couches, fichier par fichier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362895" y="384048"/>
            <a:ext cx="1325880" cy="365760"/>
          </a:xfrm>
          <a:prstGeom prst="roundRect">
            <a:avLst>
              <a:gd name="adj" fmla="val 20000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5" name="Text 3">
            <a:hlinkClick r:id="rId1" tooltip="Aller au menu" action="ppaction://hlinksldjump"/>
          </p:cNvPr>
          <p:cNvSpPr/>
          <p:nvPr/>
        </p:nvSpPr>
        <p:spPr>
          <a:xfrm>
            <a:off x="10362895" y="38404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Aller au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 Menu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2697480" cy="3291840"/>
          </a:xfrm>
          <a:prstGeom prst="roundRect">
            <a:avLst>
              <a:gd name="adj" fmla="val 4068"/>
            </a:avLst>
          </a:prstGeom>
          <a:solidFill>
            <a:srgbClr val="F3F7EC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1920240"/>
            <a:ext cx="502920" cy="502920"/>
          </a:xfrm>
          <a:prstGeom prst="ellipse">
            <a:avLst/>
          </a:prstGeom>
          <a:solidFill>
            <a:srgbClr val="7CB342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2606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95528" y="297180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7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routes/*.js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95528" y="3364992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Déclare l'URL et la méthode. Branche les middlewares et délègue au contrôleur. Aucune logique.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47288" y="1691640"/>
            <a:ext cx="2697480" cy="3291840"/>
          </a:xfrm>
          <a:prstGeom prst="roundRect">
            <a:avLst>
              <a:gd name="adj" fmla="val 4068"/>
            </a:avLst>
          </a:prstGeom>
          <a:solidFill>
            <a:srgbClr val="F3F7EC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21608" y="1920240"/>
            <a:ext cx="502920" cy="502920"/>
          </a:xfrm>
          <a:prstGeom prst="ellipse">
            <a:avLst/>
          </a:prstGeom>
          <a:solidFill>
            <a:srgbClr val="AED581"/>
          </a:solidFill>
          <a:ln/>
        </p:spPr>
      </p:sp>
      <p:sp>
        <p:nvSpPr>
          <p:cNvPr id="13" name="Text 11"/>
          <p:cNvSpPr/>
          <p:nvPr/>
        </p:nvSpPr>
        <p:spPr>
          <a:xfrm>
            <a:off x="3675888" y="2606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75888" y="297180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7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controllers/*.js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75888" y="3364992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Traduit HTTP ↔ métier : lit req, appelle le service, écrit res avec le bon code. Pas de SQL.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27648" y="1691640"/>
            <a:ext cx="2697480" cy="3291840"/>
          </a:xfrm>
          <a:prstGeom prst="roundRect">
            <a:avLst>
              <a:gd name="adj" fmla="val 4068"/>
            </a:avLst>
          </a:prstGeom>
          <a:solidFill>
            <a:srgbClr val="F3F7EC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01968" y="1920240"/>
            <a:ext cx="502920" cy="502920"/>
          </a:xfrm>
          <a:prstGeom prst="ellipse">
            <a:avLst/>
          </a:prstGeom>
          <a:solidFill>
            <a:srgbClr val="7CB342"/>
          </a:solidFill>
          <a:ln/>
        </p:spPr>
      </p:sp>
      <p:sp>
        <p:nvSpPr>
          <p:cNvPr id="18" name="Text 16"/>
          <p:cNvSpPr/>
          <p:nvPr/>
        </p:nvSpPr>
        <p:spPr>
          <a:xfrm>
            <a:off x="6556248" y="2606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56248" y="297180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7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services/*.js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56248" y="3364992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 la logique métier : vérifications, calculs, orchestration de modèles. Lève { statut, message }.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08008" y="1691640"/>
            <a:ext cx="2697480" cy="3291840"/>
          </a:xfrm>
          <a:prstGeom prst="roundRect">
            <a:avLst>
              <a:gd name="adj" fmla="val 4068"/>
            </a:avLst>
          </a:prstGeom>
          <a:solidFill>
            <a:srgbClr val="F3F7EC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482328" y="1920240"/>
            <a:ext cx="502920" cy="502920"/>
          </a:xfrm>
          <a:prstGeom prst="ellipse">
            <a:avLst/>
          </a:prstGeom>
          <a:solidFill>
            <a:srgbClr val="AED581"/>
          </a:solidFill>
          <a:ln/>
        </p:spPr>
      </p:sp>
      <p:sp>
        <p:nvSpPr>
          <p:cNvPr id="23" name="Text 21"/>
          <p:cNvSpPr/>
          <p:nvPr/>
        </p:nvSpPr>
        <p:spPr>
          <a:xfrm>
            <a:off x="9436608" y="2606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436608" y="297180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7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models/*.js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436608" y="3364992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 à parler à MySQL, en requêtes préparées. Mappe snake_case ↔ camelCase. Une table = un modèle.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66928" y="5166360"/>
            <a:ext cx="11183112" cy="868680"/>
          </a:xfrm>
          <a:prstGeom prst="roundRect">
            <a:avLst>
              <a:gd name="adj" fmla="val 10526"/>
            </a:avLst>
          </a:prstGeom>
          <a:solidFill>
            <a:srgbClr val="11231A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51663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ED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 —  </a:t>
            </a:r>
            <a:pPr indent="0" marL="0">
              <a:buNone/>
            </a:pPr>
            <a:r>
              <a:rPr lang="en-US" sz="1300" dirty="0">
                <a:solidFill>
                  <a:srgbClr val="C7D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flux descend Routes → Controller → Service → Model, puis la réponse remonte. À côté : middlewares (sécurité) en entrée, utils (calculs) appelés par les services.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PearTech · API REST backend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FONDAMENTAUX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4 couches en action : GET /api/produits/5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362895" y="384048"/>
            <a:ext cx="1325880" cy="365760"/>
          </a:xfrm>
          <a:prstGeom prst="roundRect">
            <a:avLst>
              <a:gd name="adj" fmla="val 20000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5" name="Text 3">
            <a:hlinkClick r:id="rId1" tooltip="Aller au menu" action="ppaction://hlinksldjump"/>
          </p:cNvPr>
          <p:cNvSpPr/>
          <p:nvPr/>
        </p:nvSpPr>
        <p:spPr>
          <a:xfrm>
            <a:off x="10362895" y="38404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Aller au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 Menu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requête, et chaque couche fait UNE chose puis passe le relais à sa voisine.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1755648"/>
            <a:ext cx="2331720" cy="914400"/>
          </a:xfrm>
          <a:prstGeom prst="roundRect">
            <a:avLst>
              <a:gd name="adj" fmla="val 10000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9808" y="2039112"/>
            <a:ext cx="365760" cy="365760"/>
          </a:xfrm>
          <a:prstGeom prst="ellipse">
            <a:avLst/>
          </a:prstGeom>
          <a:solidFill>
            <a:srgbClr val="7CB342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039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61872" y="1920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61872" y="224942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E7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produitRoutes.js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063240" y="1755648"/>
            <a:ext cx="5623560" cy="914400"/>
          </a:xfrm>
          <a:prstGeom prst="roundRect">
            <a:avLst>
              <a:gd name="adj" fmla="val 10000"/>
            </a:avLst>
          </a:prstGeom>
          <a:solidFill>
            <a:srgbClr val="11231A"/>
          </a:solidFill>
          <a:ln/>
        </p:spPr>
      </p:sp>
      <p:sp>
        <p:nvSpPr>
          <p:cNvPr id="13" name="Text 11"/>
          <p:cNvSpPr/>
          <p:nvPr/>
        </p:nvSpPr>
        <p:spPr>
          <a:xfrm>
            <a:off x="3319272" y="195681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router.get('/:id', a(produit.trouver))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869680" y="1901952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reçoit l'URL /produits/5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appelle le contrôleur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737360" y="2670048"/>
            <a:ext cx="0" cy="164592"/>
          </a:xfrm>
          <a:prstGeom prst="line">
            <a:avLst/>
          </a:prstGeom>
          <a:noFill/>
          <a:ln w="25400">
            <a:solidFill>
              <a:srgbClr val="7CB34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66928" y="2834640"/>
            <a:ext cx="2331720" cy="914400"/>
          </a:xfrm>
          <a:prstGeom prst="roundRect">
            <a:avLst>
              <a:gd name="adj" fmla="val 10000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9808" y="3118104"/>
            <a:ext cx="365760" cy="365760"/>
          </a:xfrm>
          <a:prstGeom prst="ellipse">
            <a:avLst/>
          </a:prstGeom>
          <a:solidFill>
            <a:srgbClr val="AED581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3118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61872" y="299923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61872" y="332841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E7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produitController.js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063240" y="2834640"/>
            <a:ext cx="5623560" cy="914400"/>
          </a:xfrm>
          <a:prstGeom prst="roundRect">
            <a:avLst>
              <a:gd name="adj" fmla="val 10000"/>
            </a:avLst>
          </a:prstGeom>
          <a:solidFill>
            <a:srgbClr val="11231A"/>
          </a:solidFill>
          <a:ln/>
        </p:spPr>
      </p:sp>
      <p:sp>
        <p:nvSpPr>
          <p:cNvPr id="22" name="Text 20"/>
          <p:cNvSpPr/>
          <p:nvPr/>
        </p:nvSpPr>
        <p:spPr>
          <a:xfrm>
            <a:off x="3319272" y="303580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 = await service.trouver(req.params.id);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(!p) throw { statut: 404 };  res.json(p);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869680" y="2980944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reçoit req (id = 5)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renvoie la réponse JSON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737360" y="3749040"/>
            <a:ext cx="0" cy="164592"/>
          </a:xfrm>
          <a:prstGeom prst="line">
            <a:avLst/>
          </a:prstGeom>
          <a:noFill/>
          <a:ln w="25400">
            <a:solidFill>
              <a:srgbClr val="7CB342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66928" y="3913632"/>
            <a:ext cx="2331720" cy="914400"/>
          </a:xfrm>
          <a:prstGeom prst="roundRect">
            <a:avLst>
              <a:gd name="adj" fmla="val 10000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49808" y="4197096"/>
            <a:ext cx="365760" cy="365760"/>
          </a:xfrm>
          <a:prstGeom prst="ellipse">
            <a:avLst/>
          </a:prstGeom>
          <a:solidFill>
            <a:srgbClr val="7CB342"/>
          </a:solidFill>
          <a:ln/>
        </p:spPr>
      </p:sp>
      <p:sp>
        <p:nvSpPr>
          <p:cNvPr id="27" name="Text 25"/>
          <p:cNvSpPr/>
          <p:nvPr/>
        </p:nvSpPr>
        <p:spPr>
          <a:xfrm>
            <a:off x="749808" y="4197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61872" y="407822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261872" y="440740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E7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produitService.js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063240" y="3913632"/>
            <a:ext cx="5623560" cy="914400"/>
          </a:xfrm>
          <a:prstGeom prst="roundRect">
            <a:avLst>
              <a:gd name="adj" fmla="val 10000"/>
            </a:avLst>
          </a:prstGeom>
          <a:solidFill>
            <a:srgbClr val="11231A"/>
          </a:solidFill>
          <a:ln/>
        </p:spPr>
      </p:sp>
      <p:sp>
        <p:nvSpPr>
          <p:cNvPr id="31" name="Text 29"/>
          <p:cNvSpPr/>
          <p:nvPr/>
        </p:nvSpPr>
        <p:spPr>
          <a:xfrm>
            <a:off x="3319272" y="41148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/^\d+$/.test(cle)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? Produit.trouverParId(cle) : ...Slug(cle);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869680" y="4059936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reçoit « 5 »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choisit la bonne requête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737360" y="4828032"/>
            <a:ext cx="0" cy="164592"/>
          </a:xfrm>
          <a:prstGeom prst="line">
            <a:avLst/>
          </a:prstGeom>
          <a:noFill/>
          <a:ln w="25400">
            <a:solidFill>
              <a:srgbClr val="7CB342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566928" y="4992624"/>
            <a:ext cx="2331720" cy="914400"/>
          </a:xfrm>
          <a:prstGeom prst="roundRect">
            <a:avLst>
              <a:gd name="adj" fmla="val 10000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49808" y="5276088"/>
            <a:ext cx="365760" cy="365760"/>
          </a:xfrm>
          <a:prstGeom prst="ellipse">
            <a:avLst/>
          </a:prstGeom>
          <a:solidFill>
            <a:srgbClr val="AED581"/>
          </a:solidFill>
          <a:ln/>
        </p:spPr>
      </p:sp>
      <p:sp>
        <p:nvSpPr>
          <p:cNvPr id="36" name="Text 34"/>
          <p:cNvSpPr/>
          <p:nvPr/>
        </p:nvSpPr>
        <p:spPr>
          <a:xfrm>
            <a:off x="749808" y="5276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261872" y="515721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261872" y="54864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E7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produitModel.js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063240" y="4992624"/>
            <a:ext cx="5623560" cy="914400"/>
          </a:xfrm>
          <a:prstGeom prst="roundRect">
            <a:avLst>
              <a:gd name="adj" fmla="val 10000"/>
            </a:avLst>
          </a:prstGeom>
          <a:solidFill>
            <a:srgbClr val="11231A"/>
          </a:solidFill>
          <a:ln/>
        </p:spPr>
      </p:sp>
      <p:sp>
        <p:nvSpPr>
          <p:cNvPr id="40" name="Text 38"/>
          <p:cNvSpPr/>
          <p:nvPr/>
        </p:nvSpPr>
        <p:spPr>
          <a:xfrm>
            <a:off x="3319272" y="519379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pool.query(`SELECT ... WHERE id = ?`, [5])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{ id:5, nom:'iPhone 15', prix:1229 }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869680" y="5138928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reçoit 5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renvoie la ligne MySQL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66928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Puis tout remonte : Model → Service → Controller → JSON renvoyé au front. Chaque couche ne connaît que sa voisine.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PearTech · API REST backend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une couche services 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362895" y="384048"/>
            <a:ext cx="1325880" cy="365760"/>
          </a:xfrm>
          <a:prstGeom prst="roundRect">
            <a:avLst>
              <a:gd name="adj" fmla="val 20000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5" name="Text 3">
            <a:hlinkClick r:id="rId1" tooltip="Aller au menu" action="ppaction://hlinksldjump"/>
          </p:cNvPr>
          <p:cNvSpPr/>
          <p:nvPr/>
        </p:nvSpPr>
        <p:spPr>
          <a:xfrm>
            <a:off x="10362895" y="38404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Aller au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 Menu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14173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logique métier est complexe et réutilisée par plusieurs routes. Plutôt que de la dupliquer dans les contrôleurs, on la met UNE fois dans un service.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949440" cy="3200400"/>
          </a:xfrm>
          <a:prstGeom prst="roundRect">
            <a:avLst>
              <a:gd name="adj" fmla="val 2857"/>
            </a:avLst>
          </a:prstGeom>
          <a:solidFill>
            <a:srgbClr val="11231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212848"/>
            <a:ext cx="6446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FB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services/commandeService.js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creerDepuisListe(userId, articles, adr) {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prep = await preparerArticles(articles); // prix+stock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montants = calculerMontants(prep.sousTotal);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Commande.creer(userId, montants, adr, prep.articles);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creerDepuisPanier(userId, adr) {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lignes = await Panier.lister(userId);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articles = lignes.map(l =&gt; ({ ... }));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creerDepuisListe(userId, articles, adr); // reutilise !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26680" y="2148840"/>
            <a:ext cx="4023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7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routes, UN seul calcul : /commandes et /depuis-panier appellent creerDepuisListe.</a:t>
            </a:r>
            <a:endParaRPr lang="en-US" sz="1250" dirty="0"/>
          </a:p>
          <a:p>
            <a:pPr marL="177800" indent="-177800">
              <a:lnSpc>
                <a:spcPct val="107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prix est recalculé une seule fois → pas de bug de caisse.</a:t>
            </a:r>
            <a:endParaRPr lang="en-US" sz="1250" dirty="0"/>
          </a:p>
          <a:p>
            <a:pPr marL="177800" indent="-177800">
              <a:lnSpc>
                <a:spcPct val="107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contrôleur reste mince : il ne fait que l'HTTP.</a:t>
            </a:r>
            <a:endParaRPr lang="en-US" sz="1250" dirty="0"/>
          </a:p>
          <a:p>
            <a:pPr marL="177800" indent="-177800">
              <a:lnSpc>
                <a:spcPct val="107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Testable sans lancer Express ni HTTP.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5440680"/>
            <a:ext cx="11183112" cy="685800"/>
          </a:xfrm>
          <a:prstGeom prst="roundRect">
            <a:avLst>
              <a:gd name="adj" fmla="val 13333"/>
            </a:avLst>
          </a:prstGeom>
          <a:solidFill>
            <a:srgbClr val="F1F1E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544068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toujours nécessaire —  </a:t>
            </a:r>
            <a:pPr indent="0" marL="0">
              <a:buNone/>
            </a:pPr>
            <a:r>
              <a:rPr lang="en-US" sz="12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favoris, adresses, contact et catégories sont du CRUD simple : leur contrôleur appelle directement le modèle, sans service.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PearTech · API REST backend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un dossier utils 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362895" y="384048"/>
            <a:ext cx="1325880" cy="365760"/>
          </a:xfrm>
          <a:prstGeom prst="roundRect">
            <a:avLst>
              <a:gd name="adj" fmla="val 20000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5" name="Text 3">
            <a:hlinkClick r:id="rId1" tooltip="Aller au menu" action="ppaction://hlinksldjump"/>
          </p:cNvPr>
          <p:cNvSpPr/>
          <p:nvPr/>
        </p:nvSpPr>
        <p:spPr>
          <a:xfrm>
            <a:off x="10362895" y="38404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Aller au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 Menu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14173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fonctions PURES (sans état, sans base) partagées par plusieurs services. Une seule source de vérité pour les calculs sensibles.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949440" cy="2926080"/>
          </a:xfrm>
          <a:prstGeom prst="roundRect">
            <a:avLst>
              <a:gd name="adj" fmla="val 3125"/>
            </a:avLst>
          </a:prstGeom>
          <a:solidFill>
            <a:srgbClr val="11231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212848"/>
            <a:ext cx="6446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FB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utils/prix.js  — appele par le panier ET la commande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prixUnitaire(produit, optionsChoisies) {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Number(produit.prix)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+ calculerSupplementOptions(produit, optionsChoisies);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FB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utils/config.js — les constantes metier, au meme endroit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module.exports = { TAUX_TVA: 0.20, FRAIS_PORT: 5.90,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SEUIL_PORT_GRATUIT: 100 };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726680" y="2103120"/>
            <a:ext cx="4023360" cy="841248"/>
          </a:xfrm>
          <a:prstGeom prst="roundRect">
            <a:avLst>
              <a:gd name="adj" fmla="val 10870"/>
            </a:avLst>
          </a:prstGeom>
          <a:solidFill>
            <a:srgbClr val="FBF0D8"/>
          </a:solidFill>
          <a:ln/>
        </p:spPr>
      </p:sp>
      <p:sp>
        <p:nvSpPr>
          <p:cNvPr id="10" name="Text 8"/>
          <p:cNvSpPr/>
          <p:nvPr/>
        </p:nvSpPr>
        <p:spPr>
          <a:xfrm>
            <a:off x="7909560" y="221284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prix.js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09560" y="2523744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+ suppléments d'options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726680" y="3054096"/>
            <a:ext cx="4023360" cy="841248"/>
          </a:xfrm>
          <a:prstGeom prst="roundRect">
            <a:avLst>
              <a:gd name="adj" fmla="val 10870"/>
            </a:avLst>
          </a:prstGeom>
          <a:solidFill>
            <a:srgbClr val="FBF0D8"/>
          </a:solidFill>
          <a:ln/>
        </p:spPr>
      </p:sp>
      <p:sp>
        <p:nvSpPr>
          <p:cNvPr id="13" name="Text 11"/>
          <p:cNvSpPr/>
          <p:nvPr/>
        </p:nvSpPr>
        <p:spPr>
          <a:xfrm>
            <a:off x="7909560" y="316382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config.js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09560" y="347472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TVA, frais de port, franco 100 €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726680" y="4005072"/>
            <a:ext cx="4023360" cy="841248"/>
          </a:xfrm>
          <a:prstGeom prst="roundRect">
            <a:avLst>
              <a:gd name="adj" fmla="val 10870"/>
            </a:avLst>
          </a:prstGeom>
          <a:solidFill>
            <a:srgbClr val="FBF0D8"/>
          </a:solidFill>
          <a:ln/>
        </p:spPr>
      </p:sp>
      <p:sp>
        <p:nvSpPr>
          <p:cNvPr id="16" name="Text 14"/>
          <p:cNvSpPr/>
          <p:nvPr/>
        </p:nvSpPr>
        <p:spPr>
          <a:xfrm>
            <a:off x="7909560" y="411480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email.js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909560" y="4425696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de commande (simulée)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5166360"/>
            <a:ext cx="11183112" cy="777240"/>
          </a:xfrm>
          <a:prstGeom prst="roundRect">
            <a:avLst>
              <a:gd name="adj" fmla="val 11765"/>
            </a:avLst>
          </a:prstGeom>
          <a:solidFill>
            <a:srgbClr val="11231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1663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ED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vs Util —  </a:t>
            </a:r>
            <a:pPr indent="0" marL="0">
              <a:buNone/>
            </a:pPr>
            <a:r>
              <a:rPr lang="en-US" sz="1300" dirty="0">
                <a:solidFill>
                  <a:srgbClr val="C7D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service orchestre des modèles et porte les règles d'UN domaine ; un util est un outil générique, sans dépendance, que PLUSIEURS domaines réutilisent.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PearTech · API REST backend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trajet d'une requête, aller-retour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362895" y="384048"/>
            <a:ext cx="1325880" cy="365760"/>
          </a:xfrm>
          <a:prstGeom prst="roundRect">
            <a:avLst>
              <a:gd name="adj" fmla="val 20000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5" name="Text 3">
            <a:hlinkClick r:id="rId1" tooltip="Aller au menu" action="ppaction://hlinksldjump"/>
          </p:cNvPr>
          <p:cNvSpPr/>
          <p:nvPr/>
        </p:nvSpPr>
        <p:spPr>
          <a:xfrm>
            <a:off x="10362895" y="38404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Aller au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 Menu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requête descend couche par couche, la réponse remonte. À l'entrée, les middlewares filtrent ; en sortie, le bon code de statut est choisi.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5486400" cy="3566160"/>
          </a:xfrm>
          <a:prstGeom prst="roundRect">
            <a:avLst>
              <a:gd name="adj" fmla="val 3077"/>
            </a:avLst>
          </a:prstGeom>
          <a:solidFill>
            <a:srgbClr val="F3F7EC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9933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LA REQUÊTE DESCEND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24128" y="2542032"/>
            <a:ext cx="0" cy="2468880"/>
          </a:xfrm>
          <a:prstGeom prst="line">
            <a:avLst/>
          </a:prstGeom>
          <a:noFill/>
          <a:ln w="25400">
            <a:solidFill>
              <a:srgbClr val="7CB3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2432304"/>
            <a:ext cx="310896" cy="310896"/>
          </a:xfrm>
          <a:prstGeom prst="ellipse">
            <a:avLst/>
          </a:prstGeom>
          <a:solidFill>
            <a:srgbClr val="7CB342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4323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25880" y="2386584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Middlewares globaux  </a:t>
            </a:r>
            <a:pPr indent="0" marL="0">
              <a:buNone/>
            </a:pPr>
            <a:r>
              <a:rPr lang="en-US" sz="115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helmet · cors · json · journal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68680" y="2935224"/>
            <a:ext cx="310896" cy="310896"/>
          </a:xfrm>
          <a:prstGeom prst="ellipse">
            <a:avLst/>
          </a:prstGeom>
          <a:solidFill>
            <a:srgbClr val="7CB342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2935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25880" y="2889504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Routeur  </a:t>
            </a:r>
            <a:pPr indent="0" marL="0">
              <a:buNone/>
            </a:pPr>
            <a:r>
              <a:rPr lang="en-US" sz="115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associe l'URL + le verbe à une route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68680" y="3438144"/>
            <a:ext cx="310896" cy="310896"/>
          </a:xfrm>
          <a:prstGeom prst="ellipse">
            <a:avLst/>
          </a:prstGeom>
          <a:solidFill>
            <a:srgbClr val="7CB342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4381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25880" y="3392424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Middlewares de route  </a:t>
            </a:r>
            <a:pPr indent="0" marL="0">
              <a:buNone/>
            </a:pPr>
            <a:r>
              <a:rPr lang="en-US" sz="115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verifierToken · valider (bloquent si KO)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68680" y="3941064"/>
            <a:ext cx="310896" cy="310896"/>
          </a:xfrm>
          <a:prstGeom prst="ellipse">
            <a:avLst/>
          </a:prstGeom>
          <a:solidFill>
            <a:srgbClr val="7CB342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3941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25880" y="3895344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 </a:t>
            </a:r>
            <a:pPr indent="0" marL="0">
              <a:buNone/>
            </a:pPr>
            <a:r>
              <a:rPr lang="en-US" sz="115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lit req.params / body / utilisateur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68680" y="4443984"/>
            <a:ext cx="310896" cy="310896"/>
          </a:xfrm>
          <a:prstGeom prst="ellipse">
            <a:avLst/>
          </a:prstGeom>
          <a:solidFill>
            <a:srgbClr val="7CB342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4443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325880" y="4398264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 </a:t>
            </a:r>
            <a:pPr indent="0" marL="0">
              <a:buNone/>
            </a:pPr>
            <a:r>
              <a:rPr lang="en-US" sz="115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règles métier + utils (prix, config)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68680" y="4946904"/>
            <a:ext cx="310896" cy="310896"/>
          </a:xfrm>
          <a:prstGeom prst="ellipse">
            <a:avLst/>
          </a:prstGeom>
          <a:solidFill>
            <a:srgbClr val="7CB342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4946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25880" y="4901184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→ MySQL  </a:t>
            </a:r>
            <a:pPr indent="0" marL="0">
              <a:buNone/>
            </a:pPr>
            <a:r>
              <a:rPr lang="en-US" sz="115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requête SQL préparée (paramètres ?)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63640" y="1828800"/>
            <a:ext cx="5486400" cy="3566160"/>
          </a:xfrm>
          <a:prstGeom prst="roundRect">
            <a:avLst>
              <a:gd name="adj" fmla="val 3077"/>
            </a:avLst>
          </a:prstGeom>
          <a:solidFill>
            <a:srgbClr val="EAF1FB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519672" y="19933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LA RÉPONSE REMONTE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720840" y="2542032"/>
            <a:ext cx="0" cy="150876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65392" y="2432304"/>
            <a:ext cx="310896" cy="310896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32" name="Text 30"/>
          <p:cNvSpPr/>
          <p:nvPr/>
        </p:nvSpPr>
        <p:spPr>
          <a:xfrm>
            <a:off x="6565392" y="24323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022592" y="2386584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→ Model  </a:t>
            </a:r>
            <a:pPr indent="0" marL="0">
              <a:buNone/>
            </a:pPr>
            <a:r>
              <a:rPr lang="en-US" sz="115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renvoie les lignes trouvées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565392" y="2935224"/>
            <a:ext cx="310896" cy="310896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35" name="Text 33"/>
          <p:cNvSpPr/>
          <p:nvPr/>
        </p:nvSpPr>
        <p:spPr>
          <a:xfrm>
            <a:off x="6565392" y="2935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022592" y="2889504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 </a:t>
            </a:r>
            <a:pPr indent="0" marL="0">
              <a:buNone/>
            </a:pPr>
            <a:r>
              <a:rPr lang="en-US" sz="115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calcule prix, totaux, met en forme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565392" y="3438144"/>
            <a:ext cx="310896" cy="310896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38" name="Text 36"/>
          <p:cNvSpPr/>
          <p:nvPr/>
        </p:nvSpPr>
        <p:spPr>
          <a:xfrm>
            <a:off x="6565392" y="34381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022592" y="3392424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 </a:t>
            </a:r>
            <a:pPr indent="0" marL="0">
              <a:buNone/>
            </a:pPr>
            <a:r>
              <a:rPr lang="en-US" sz="115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res.status(201).json(...) — bon code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565392" y="3941064"/>
            <a:ext cx="310896" cy="310896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41" name="Text 39"/>
          <p:cNvSpPr/>
          <p:nvPr/>
        </p:nvSpPr>
        <p:spPr>
          <a:xfrm>
            <a:off x="6565392" y="3941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022592" y="3895344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front  </a:t>
            </a:r>
            <a:pPr indent="0" marL="0">
              <a:buNone/>
            </a:pPr>
            <a:r>
              <a:rPr lang="en-US" sz="115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reçoit le JSON et l'affiche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519672" y="452628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descente est plus longue : c'est là qu'on vérifie l'identité, les droits et la saisie avant de toucher la base.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566928" y="5577840"/>
            <a:ext cx="11183112" cy="640080"/>
          </a:xfrm>
          <a:prstGeom prst="roundRect">
            <a:avLst>
              <a:gd name="adj" fmla="val 14286"/>
            </a:avLst>
          </a:prstGeom>
          <a:solidFill>
            <a:srgbClr val="FBE5E5"/>
          </a:solidFill>
          <a:ln/>
        </p:spPr>
      </p:sp>
      <p:sp>
        <p:nvSpPr>
          <p:cNvPr id="45" name="Text 43"/>
          <p:cNvSpPr/>
          <p:nvPr/>
        </p:nvSpPr>
        <p:spPr>
          <a:xfrm>
            <a:off x="841248" y="55778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tout moment —  </a:t>
            </a:r>
            <a:pPr indent="0" marL="0">
              <a:buNone/>
            </a:pPr>
            <a:r>
              <a:rPr lang="en-US" sz="1200" dirty="0">
                <a:solidFill>
                  <a:srgbClr val="7A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une couche lève une erreur (throw), on saute directement à gestionErreurs, qui renvoie le bon code (400 / 401 / 403 / 404 / 409) ou un 500 générique.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PearTech · API REST backend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middlewares : des filtres avant le contrôleur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362895" y="384048"/>
            <a:ext cx="1325880" cy="365760"/>
          </a:xfrm>
          <a:prstGeom prst="roundRect">
            <a:avLst>
              <a:gd name="adj" fmla="val 20000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5" name="Text 3">
            <a:hlinkClick r:id="rId1" tooltip="Aller au menu" action="ppaction://hlinksldjump"/>
          </p:cNvPr>
          <p:cNvSpPr/>
          <p:nvPr/>
        </p:nvSpPr>
        <p:spPr>
          <a:xfrm>
            <a:off x="10362895" y="38404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Aller au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 Menu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middleware s'exécute ENTRE la requête et le contrôleur. Il peut vérifier, bloquer (renvoyer une erreur) ou laisser passer avec next().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1920240"/>
            <a:ext cx="2176272" cy="548640"/>
          </a:xfrm>
          <a:prstGeom prst="roundRect">
            <a:avLst>
              <a:gd name="adj" fmla="val 15000"/>
            </a:avLst>
          </a:prstGeom>
          <a:solidFill>
            <a:srgbClr val="ECEFEA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920240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helmet · cors · json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79776" y="2194560"/>
            <a:ext cx="329184" cy="0"/>
          </a:xfrm>
          <a:prstGeom prst="line">
            <a:avLst/>
          </a:prstGeom>
          <a:noFill/>
          <a:ln w="25400">
            <a:solidFill>
              <a:srgbClr val="7CB34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200400" y="1920240"/>
            <a:ext cx="1548994" cy="548640"/>
          </a:xfrm>
          <a:prstGeom prst="roundRect">
            <a:avLst>
              <a:gd name="adj" fmla="val 15000"/>
            </a:avLst>
          </a:prstGeom>
          <a:solidFill>
            <a:srgbClr val="FBF0D8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920240"/>
            <a:ext cx="15489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verifierToken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85970" y="2194560"/>
            <a:ext cx="329184" cy="0"/>
          </a:xfrm>
          <a:prstGeom prst="line">
            <a:avLst/>
          </a:prstGeom>
          <a:noFill/>
          <a:ln w="25400">
            <a:solidFill>
              <a:srgbClr val="7CB34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206594" y="1920240"/>
            <a:ext cx="1548994" cy="548640"/>
          </a:xfrm>
          <a:prstGeom prst="roundRect">
            <a:avLst>
              <a:gd name="adj" fmla="val 15000"/>
            </a:avLst>
          </a:prstGeom>
          <a:solidFill>
            <a:srgbClr val="FBE5E5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06594" y="1920240"/>
            <a:ext cx="15489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verifierAdmin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92163" y="2194560"/>
            <a:ext cx="329184" cy="0"/>
          </a:xfrm>
          <a:prstGeom prst="line">
            <a:avLst/>
          </a:prstGeom>
          <a:noFill/>
          <a:ln w="25400">
            <a:solidFill>
              <a:srgbClr val="7CB34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212787" y="1920240"/>
            <a:ext cx="1371600" cy="548640"/>
          </a:xfrm>
          <a:prstGeom prst="roundRect">
            <a:avLst>
              <a:gd name="adj" fmla="val 15000"/>
            </a:avLst>
          </a:prstGeom>
          <a:solidFill>
            <a:srgbClr val="E3EEFB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12787" y="19202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620963" y="2194560"/>
            <a:ext cx="329184" cy="0"/>
          </a:xfrm>
          <a:prstGeom prst="line">
            <a:avLst/>
          </a:prstGeom>
          <a:noFill/>
          <a:ln w="25400">
            <a:solidFill>
              <a:srgbClr val="7CB34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041587" y="1920240"/>
            <a:ext cx="1371600" cy="548640"/>
          </a:xfrm>
          <a:prstGeom prst="roundRect">
            <a:avLst>
              <a:gd name="adj" fmla="val 15000"/>
            </a:avLst>
          </a:prstGeom>
          <a:solidFill>
            <a:srgbClr val="EAF3DD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41587" y="19202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CONTRÔLEUR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66928" y="2788920"/>
            <a:ext cx="6949440" cy="2788920"/>
          </a:xfrm>
          <a:prstGeom prst="roundRect">
            <a:avLst>
              <a:gd name="adj" fmla="val 3279"/>
            </a:avLst>
          </a:prstGeom>
          <a:solidFill>
            <a:srgbClr val="11231A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2990088"/>
            <a:ext cx="64465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8FB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middlewares/auth.js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verifierToken(req, res, next) {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e = req.headers.authorization;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(!e || !e.startsWith('Bearer '))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res.status(401).json({ erreur: 'Token manquant.' });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 {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req.utilisateur = jwt.verify(e.split(' ')[1], SECRET);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next();                       // OK -&gt; on laisse passer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catch { return res.status(401)...; }   // KO -&gt; 401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26680" y="2926080"/>
            <a:ext cx="4023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verifierToken → 401 si le token est absent ou invalide.</a:t>
            </a:r>
            <a:endParaRPr lang="en-US" sz="1250" dirty="0"/>
          </a:p>
          <a:p>
            <a:pPr marL="177800" indent="-1778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verifierAdmin → 403 si l'utilisateur n'est pas admin.</a:t>
            </a:r>
            <a:endParaRPr lang="en-US" sz="1250" dirty="0"/>
          </a:p>
          <a:p>
            <a:pPr marL="177800" indent="-1778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 → 400 si la saisie est invalide.</a:t>
            </a:r>
            <a:endParaRPr lang="en-US" sz="1250" dirty="0"/>
          </a:p>
          <a:p>
            <a:pPr marL="177800" indent="-1778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asyncHandler → capture les erreurs async.</a:t>
            </a:r>
            <a:endParaRPr lang="en-US" sz="1250" dirty="0"/>
          </a:p>
          <a:p>
            <a:pPr marL="177800" indent="-1778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L'ordre compte : comme les contrôles à l'aéroport.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5760720"/>
            <a:ext cx="11183112" cy="457200"/>
          </a:xfrm>
          <a:prstGeom prst="roundRect">
            <a:avLst>
              <a:gd name="adj" fmla="val 16000"/>
            </a:avLst>
          </a:prstGeom>
          <a:solidFill>
            <a:srgbClr val="F1F1EC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7607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Globaux vs par route —  </a:t>
            </a:r>
            <a:pPr indent="0" marL="0">
              <a:buNone/>
            </a:pPr>
            <a:r>
              <a:rPr lang="en-US" sz="12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helmet, cors, json, journal dans server.js (toutes les requêtes) ; verifierToken et valider posés route par route.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PearTech · API REST backend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configuration : le fichier .env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362895" y="384048"/>
            <a:ext cx="1325880" cy="365760"/>
          </a:xfrm>
          <a:prstGeom prst="roundRect">
            <a:avLst>
              <a:gd name="adj" fmla="val 20000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5" name="Text 3">
            <a:hlinkClick r:id="rId1" tooltip="Aller au menu" action="ppaction://hlinksldjump"/>
          </p:cNvPr>
          <p:cNvSpPr/>
          <p:nvPr/>
        </p:nvSpPr>
        <p:spPr>
          <a:xfrm>
            <a:off x="10362895" y="38404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Aller au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 Menu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146304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réglages et les secrets vivent hors du code, dans un fichier .env lu au démarrage par dotenv et exposé via process.env.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66928" y="2240280"/>
            <a:ext cx="6126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hors du code : mot de passe BDD, clé JWT… jamais en dur dans les fichiers.</a:t>
            </a:r>
            <a:endParaRPr lang="en-US" sz="1300" dirty="0"/>
          </a:p>
          <a:p>
            <a:pPr marL="177800" indent="-1778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Jamais committé (listé dans .gitignore) → les secrets ne partent pas sur GitHub.</a:t>
            </a:r>
            <a:endParaRPr lang="en-US" sz="1300" dirty="0"/>
          </a:p>
          <a:p>
            <a:pPr marL="177800" indent="-1778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différente dev / production sans changer une ligne de code.</a:t>
            </a:r>
            <a:endParaRPr lang="en-US" sz="1300" dirty="0"/>
          </a:p>
          <a:p>
            <a:pPr marL="177800" indent="-1778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par défaut dans le code si une variable manque (ex. PORT || 3000).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949440" y="1783080"/>
            <a:ext cx="4800600" cy="4114800"/>
          </a:xfrm>
          <a:prstGeom prst="roundRect">
            <a:avLst>
              <a:gd name="adj" fmla="val 2222"/>
            </a:avLst>
          </a:prstGeom>
          <a:solidFill>
            <a:srgbClr val="11231A"/>
          </a:solidFill>
          <a:ln/>
        </p:spPr>
      </p:sp>
      <p:sp>
        <p:nvSpPr>
          <p:cNvPr id="9" name="Text 7"/>
          <p:cNvSpPr/>
          <p:nvPr/>
        </p:nvSpPr>
        <p:spPr>
          <a:xfrm>
            <a:off x="7205472" y="1984248"/>
            <a:ext cx="42976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8FB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fichier .env (exemple)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PORT=3000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DB_HOST=127.0.0.1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DB_USER=root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DB_PASSWORD=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DB_NAME=peartech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JWT_SECRET=une_longue_chaine_secrete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JWT_EXPIRES_IN=1h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JWT_REFRESH_EXPIRES_IN=7d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FRONT_URL=http://localhost:5500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512064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 dans config/db.js et authService via process.env.DB_HOST, process.env.JWT_SECRET…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PearTech · API REST backend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pool de connexions MySQL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362895" y="384048"/>
            <a:ext cx="1325880" cy="365760"/>
          </a:xfrm>
          <a:prstGeom prst="roundRect">
            <a:avLst>
              <a:gd name="adj" fmla="val 20000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5" name="Text 3">
            <a:hlinkClick r:id="rId1" tooltip="Aller au menu" action="ppaction://hlinksldjump"/>
          </p:cNvPr>
          <p:cNvSpPr/>
          <p:nvPr/>
        </p:nvSpPr>
        <p:spPr>
          <a:xfrm>
            <a:off x="10362895" y="38404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Aller au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 Menu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14173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Ouvrir/fermer une connexion à chaque requête serait lent. Le pool garde un stock de connexions prêtes et les recycle.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217920" cy="2468880"/>
          </a:xfrm>
          <a:prstGeom prst="roundRect">
            <a:avLst>
              <a:gd name="adj" fmla="val 3704"/>
            </a:avLst>
          </a:prstGeom>
          <a:solidFill>
            <a:srgbClr val="11231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212848"/>
            <a:ext cx="5715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8FB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config/db.js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pool = mysql.createPool({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host: process.env.DB_HOST,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user: process.env.DB_USER,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database: process.env.DB_NAME,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waitForConnections: true,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connectionLimit: 10,    // 10 connexions max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charset: 'utf8mb4'      // accents + emojis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module.exports = pool;    // partage par tous les modeles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4663440"/>
            <a:ext cx="6217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7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connexions réutilisées en boucle (connectionLimit).</a:t>
            </a:r>
            <a:endParaRPr lang="en-US" sz="1200" dirty="0"/>
          </a:p>
          <a:p>
            <a:pPr marL="177800" indent="-177800">
              <a:lnSpc>
                <a:spcPct val="107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occupées → la requête attend (waitForConnections).</a:t>
            </a:r>
            <a:endParaRPr lang="en-US" sz="1200" dirty="0"/>
          </a:p>
          <a:p>
            <a:pPr marL="177800" indent="-177800">
              <a:lnSpc>
                <a:spcPct val="107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mysql2/promise → await pool.query(...) propre.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95160" y="2011680"/>
            <a:ext cx="4754880" cy="3703320"/>
          </a:xfrm>
          <a:prstGeom prst="roundRect">
            <a:avLst>
              <a:gd name="adj" fmla="val 2963"/>
            </a:avLst>
          </a:prstGeom>
          <a:solidFill>
            <a:srgbClr val="F3F7EC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178040" y="2240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223760" y="2926080"/>
            <a:ext cx="1143000" cy="0"/>
          </a:xfrm>
          <a:prstGeom prst="line">
            <a:avLst/>
          </a:prstGeom>
          <a:noFill/>
          <a:ln w="25400">
            <a:solidFill>
              <a:srgbClr val="7CB34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223760" y="3429000"/>
            <a:ext cx="1143000" cy="0"/>
          </a:xfrm>
          <a:prstGeom prst="line">
            <a:avLst/>
          </a:prstGeom>
          <a:noFill/>
          <a:ln w="25400">
            <a:solidFill>
              <a:srgbClr val="7CB34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223760" y="3931920"/>
            <a:ext cx="1143000" cy="0"/>
          </a:xfrm>
          <a:prstGeom prst="line">
            <a:avLst/>
          </a:prstGeom>
          <a:noFill/>
          <a:ln w="25400">
            <a:solidFill>
              <a:srgbClr val="7CB34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503920" y="2788920"/>
            <a:ext cx="1737360" cy="2377440"/>
          </a:xfrm>
          <a:prstGeom prst="roundRect">
            <a:avLst>
              <a:gd name="adj" fmla="val 5263"/>
            </a:avLst>
          </a:prstGeom>
          <a:solidFill>
            <a:srgbClr val="11231A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29077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ED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(10)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686800" y="3246120"/>
            <a:ext cx="1371600" cy="256032"/>
          </a:xfrm>
          <a:prstGeom prst="roundRect">
            <a:avLst>
              <a:gd name="adj" fmla="val 10714"/>
            </a:avLst>
          </a:prstGeom>
          <a:solidFill>
            <a:srgbClr val="7CB342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0" y="3611880"/>
            <a:ext cx="1371600" cy="256032"/>
          </a:xfrm>
          <a:prstGeom prst="roundRect">
            <a:avLst>
              <a:gd name="adj" fmla="val 10714"/>
            </a:avLst>
          </a:prstGeom>
          <a:solidFill>
            <a:srgbClr val="7CB342"/>
          </a:solidFill>
          <a:ln/>
        </p:spPr>
      </p:sp>
      <p:sp>
        <p:nvSpPr>
          <p:cNvPr id="19" name="Shape 17"/>
          <p:cNvSpPr/>
          <p:nvPr/>
        </p:nvSpPr>
        <p:spPr>
          <a:xfrm>
            <a:off x="8686800" y="3977640"/>
            <a:ext cx="1371600" cy="256032"/>
          </a:xfrm>
          <a:prstGeom prst="roundRect">
            <a:avLst>
              <a:gd name="adj" fmla="val 10714"/>
            </a:avLst>
          </a:prstGeom>
          <a:solidFill>
            <a:srgbClr val="7CB342"/>
          </a:solidFill>
          <a:ln/>
        </p:spPr>
      </p:sp>
      <p:sp>
        <p:nvSpPr>
          <p:cNvPr id="20" name="Shape 18"/>
          <p:cNvSpPr/>
          <p:nvPr/>
        </p:nvSpPr>
        <p:spPr>
          <a:xfrm>
            <a:off x="8686800" y="4343400"/>
            <a:ext cx="1371600" cy="256032"/>
          </a:xfrm>
          <a:prstGeom prst="roundRect">
            <a:avLst>
              <a:gd name="adj" fmla="val 10714"/>
            </a:avLst>
          </a:prstGeom>
          <a:solidFill>
            <a:srgbClr val="3A5230"/>
          </a:solidFill>
          <a:ln/>
        </p:spPr>
      </p:sp>
      <p:sp>
        <p:nvSpPr>
          <p:cNvPr id="21" name="Shape 19"/>
          <p:cNvSpPr/>
          <p:nvPr/>
        </p:nvSpPr>
        <p:spPr>
          <a:xfrm>
            <a:off x="8686800" y="4709160"/>
            <a:ext cx="1371600" cy="256032"/>
          </a:xfrm>
          <a:prstGeom prst="roundRect">
            <a:avLst>
              <a:gd name="adj" fmla="val 10714"/>
            </a:avLst>
          </a:prstGeom>
          <a:solidFill>
            <a:srgbClr val="3A5230"/>
          </a:solidFill>
          <a:ln/>
        </p:spPr>
      </p:sp>
      <p:sp>
        <p:nvSpPr>
          <p:cNvPr id="22" name="Shape 20"/>
          <p:cNvSpPr/>
          <p:nvPr/>
        </p:nvSpPr>
        <p:spPr>
          <a:xfrm>
            <a:off x="10287000" y="3977640"/>
            <a:ext cx="1005840" cy="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561320" y="3474720"/>
            <a:ext cx="1005840" cy="1005840"/>
          </a:xfrm>
          <a:prstGeom prst="roundRect">
            <a:avLst>
              <a:gd name="adj" fmla="val 7273"/>
            </a:avLst>
          </a:prstGeom>
          <a:solidFill>
            <a:srgbClr val="E3EEFB"/>
          </a:solidFill>
          <a:ln/>
        </p:spPr>
      </p:sp>
      <p:sp>
        <p:nvSpPr>
          <p:cNvPr id="24" name="Text 22"/>
          <p:cNvSpPr/>
          <p:nvPr/>
        </p:nvSpPr>
        <p:spPr>
          <a:xfrm>
            <a:off x="10561320" y="34747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503920" y="5257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 = libre · foncé = occupée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PearTech · API REST backend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gestion des erreurs, en un seul endroit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362895" y="384048"/>
            <a:ext cx="1325880" cy="365760"/>
          </a:xfrm>
          <a:prstGeom prst="roundRect">
            <a:avLst>
              <a:gd name="adj" fmla="val 20000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5" name="Text 3">
            <a:hlinkClick r:id="rId1" tooltip="Aller au menu" action="ppaction://hlinksldjump"/>
          </p:cNvPr>
          <p:cNvSpPr/>
          <p:nvPr/>
        </p:nvSpPr>
        <p:spPr>
          <a:xfrm>
            <a:off x="10362895" y="38404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Aller au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 Menu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14630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contrôleurs sont enveloppés par asyncHandler : toute erreur est attrapée et envoyée au gestionnaire central, qui choisit la bonne réponse.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2240280"/>
            <a:ext cx="3108960" cy="822960"/>
          </a:xfrm>
          <a:prstGeom prst="roundRect">
            <a:avLst>
              <a:gd name="adj" fmla="val 11111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331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Contrôleur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66928" y="2697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6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lève une erreur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21608" y="2651760"/>
            <a:ext cx="411480" cy="0"/>
          </a:xfrm>
          <a:prstGeom prst="line">
            <a:avLst/>
          </a:prstGeom>
          <a:noFill/>
          <a:ln w="25400">
            <a:solidFill>
              <a:srgbClr val="7CB34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178808" y="2240280"/>
            <a:ext cx="3108960" cy="822960"/>
          </a:xfrm>
          <a:prstGeom prst="roundRect">
            <a:avLst>
              <a:gd name="adj" fmla="val 11111"/>
            </a:avLst>
          </a:prstGeom>
          <a:solidFill>
            <a:srgbClr val="EAF3DD"/>
          </a:solidFill>
          <a:ln w="12700">
            <a:solidFill>
              <a:srgbClr val="D9E2C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78808" y="2331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asyncHandler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178808" y="2697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6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.catch(next)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33488" y="2651760"/>
            <a:ext cx="411480" cy="0"/>
          </a:xfrm>
          <a:prstGeom prst="line">
            <a:avLst/>
          </a:prstGeom>
          <a:noFill/>
          <a:ln w="25400">
            <a:solidFill>
              <a:srgbClr val="7CB34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790688" y="2240280"/>
            <a:ext cx="3108960" cy="822960"/>
          </a:xfrm>
          <a:prstGeom prst="roundRect">
            <a:avLst>
              <a:gd name="adj" fmla="val 11111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790688" y="2331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gestionErreurs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90688" y="2697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6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choisit la réponse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3566160"/>
            <a:ext cx="5486400" cy="1874520"/>
          </a:xfrm>
          <a:prstGeom prst="roundRect">
            <a:avLst>
              <a:gd name="adj" fmla="val 5854"/>
            </a:avLst>
          </a:prstGeom>
          <a:solidFill>
            <a:srgbClr val="EAF3DD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73075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 métier  { statut, message }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40690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5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Levée volontairement par un service. Renvoyée telle quelle avec le bon code.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47091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5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 { statut: 409, message: 'Email déjà pris.' }  →  409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63640" y="3566160"/>
            <a:ext cx="5486400" cy="1874520"/>
          </a:xfrm>
          <a:prstGeom prst="roundRect">
            <a:avLst>
              <a:gd name="adj" fmla="val 5854"/>
            </a:avLst>
          </a:prstGeom>
          <a:solidFill>
            <a:srgbClr val="FBE5E5"/>
          </a:solidFill>
          <a:ln/>
        </p:spPr>
      </p:sp>
      <p:sp>
        <p:nvSpPr>
          <p:cNvPr id="23" name="Text 21"/>
          <p:cNvSpPr/>
          <p:nvPr/>
        </p:nvSpPr>
        <p:spPr>
          <a:xfrm>
            <a:off x="6519672" y="373075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 inattendue  (bug, SQL…)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19672" y="40690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A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détail est masqué au client (sécurité) et journalisé côté serveur.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19672" y="47091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res.status(500) → 'Une erreur interne est survenue.'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66928" y="56235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toute URL inconnue tombe sur routeIntrouvable → 404. Sans ce système, une erreur async non gérée pourrait faire planter le serveur.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PearTech · API REST backend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2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ED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— PANORAMA INTERACTIF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mécanismes de défense — cliquez une carte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carte ouvre sa fiche détaillée (pourquoi, comment, code). Le bouton « ‹ Sécurité » y ramène ici.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2697480" cy="1572768"/>
          </a:xfrm>
          <a:prstGeom prst="roundRect">
            <a:avLst>
              <a:gd name="adj" fmla="val 5814"/>
            </a:avLst>
          </a:prstGeom>
          <a:solidFill>
            <a:srgbClr val="1C3526"/>
          </a:solidFill>
          <a:ln w="12700">
            <a:solidFill>
              <a:srgbClr val="4E7A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" y="2011680"/>
            <a:ext cx="457200" cy="457200"/>
          </a:xfrm>
          <a:prstGeom prst="ellipse">
            <a:avLst/>
          </a:prstGeom>
          <a:solidFill>
            <a:srgbClr val="7CB342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68096" y="252374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JWT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68096" y="298094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es-tu ? (token signé)</a:t>
            </a:r>
            <a:endParaRPr lang="en-US" sz="1050" dirty="0"/>
          </a:p>
        </p:txBody>
      </p:sp>
      <p:sp>
        <p:nvSpPr>
          <p:cNvPr id="10" name="Text 8">
            <a:hlinkClick r:id="rId1" tooltip="Ouvrir : Authentification JWT" action="ppaction://hlinksldjump"/>
          </p:cNvPr>
          <p:cNvSpPr/>
          <p:nvPr/>
        </p:nvSpPr>
        <p:spPr>
          <a:xfrm>
            <a:off x="566928" y="1828800"/>
            <a:ext cx="2697480" cy="157276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429000" y="1828800"/>
            <a:ext cx="2697480" cy="1572768"/>
          </a:xfrm>
          <a:prstGeom prst="roundRect">
            <a:avLst>
              <a:gd name="adj" fmla="val 5814"/>
            </a:avLst>
          </a:prstGeom>
          <a:solidFill>
            <a:srgbClr val="1C3526"/>
          </a:solidFill>
          <a:ln w="12700">
            <a:solidFill>
              <a:srgbClr val="4E7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30168" y="2011680"/>
            <a:ext cx="457200" cy="457200"/>
          </a:xfrm>
          <a:prstGeom prst="ellipse">
            <a:avLst/>
          </a:prstGeom>
          <a:solidFill>
            <a:srgbClr val="7CB342"/>
          </a:solidFill>
          <a:ln/>
        </p:spPr>
      </p:sp>
      <p:sp>
        <p:nvSpPr>
          <p:cNvPr id="13" name="Text 11"/>
          <p:cNvSpPr/>
          <p:nvPr/>
        </p:nvSpPr>
        <p:spPr>
          <a:xfrm>
            <a:off x="3630168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30168" y="252374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Autorisation &amp; rôles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30168" y="298094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as-tu le droit ? (admin)</a:t>
            </a:r>
            <a:endParaRPr lang="en-US" sz="1050" dirty="0"/>
          </a:p>
        </p:txBody>
      </p:sp>
      <p:sp>
        <p:nvSpPr>
          <p:cNvPr id="16" name="Text 14">
            <a:hlinkClick r:id="rId2" tooltip="Ouvrir : Autorisation &amp; rôles" action="ppaction://hlinksldjump"/>
          </p:cNvPr>
          <p:cNvSpPr/>
          <p:nvPr/>
        </p:nvSpPr>
        <p:spPr>
          <a:xfrm>
            <a:off x="3429000" y="1828800"/>
            <a:ext cx="2697480" cy="157276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291072" y="1828800"/>
            <a:ext cx="2697480" cy="1572768"/>
          </a:xfrm>
          <a:prstGeom prst="roundRect">
            <a:avLst>
              <a:gd name="adj" fmla="val 5814"/>
            </a:avLst>
          </a:prstGeom>
          <a:solidFill>
            <a:srgbClr val="1C3526"/>
          </a:solidFill>
          <a:ln w="12700">
            <a:solidFill>
              <a:srgbClr val="4E7A2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2011680"/>
            <a:ext cx="457200" cy="457200"/>
          </a:xfrm>
          <a:prstGeom prst="ellipse">
            <a:avLst/>
          </a:prstGeom>
          <a:solidFill>
            <a:srgbClr val="7CB342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92240" y="252374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Mots de passe (bcrypt)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92240" y="298094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jamais stockés en clair</a:t>
            </a:r>
            <a:endParaRPr lang="en-US" sz="1050" dirty="0"/>
          </a:p>
        </p:txBody>
      </p:sp>
      <p:sp>
        <p:nvSpPr>
          <p:cNvPr id="22" name="Text 20">
            <a:hlinkClick r:id="rId3" tooltip="Ouvrir : Mots de passe (bcrypt)" action="ppaction://hlinksldjump"/>
          </p:cNvPr>
          <p:cNvSpPr/>
          <p:nvPr/>
        </p:nvSpPr>
        <p:spPr>
          <a:xfrm>
            <a:off x="6291072" y="1828800"/>
            <a:ext cx="2697480" cy="157276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9153144" y="1828800"/>
            <a:ext cx="2697480" cy="1572768"/>
          </a:xfrm>
          <a:prstGeom prst="roundRect">
            <a:avLst>
              <a:gd name="adj" fmla="val 5814"/>
            </a:avLst>
          </a:prstGeom>
          <a:solidFill>
            <a:srgbClr val="1C3526"/>
          </a:solidFill>
          <a:ln w="12700">
            <a:solidFill>
              <a:srgbClr val="4E7A2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54312" y="2011680"/>
            <a:ext cx="457200" cy="457200"/>
          </a:xfrm>
          <a:prstGeom prst="ellipse">
            <a:avLst/>
          </a:prstGeom>
          <a:solidFill>
            <a:srgbClr val="7CB342"/>
          </a:solidFill>
          <a:ln/>
        </p:spPr>
      </p:sp>
      <p:sp>
        <p:nvSpPr>
          <p:cNvPr id="25" name="Text 23"/>
          <p:cNvSpPr/>
          <p:nvPr/>
        </p:nvSpPr>
        <p:spPr>
          <a:xfrm>
            <a:off x="9354312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354312" y="252374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Anti-injection SQL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354312" y="298094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requêtes préparées ?</a:t>
            </a:r>
            <a:endParaRPr lang="en-US" sz="1050" dirty="0"/>
          </a:p>
        </p:txBody>
      </p:sp>
      <p:sp>
        <p:nvSpPr>
          <p:cNvPr id="28" name="Text 26">
            <a:hlinkClick r:id="rId4" tooltip="Ouvrir : Anti-injection SQL" action="ppaction://hlinksldjump"/>
          </p:cNvPr>
          <p:cNvSpPr/>
          <p:nvPr/>
        </p:nvSpPr>
        <p:spPr>
          <a:xfrm>
            <a:off x="9153144" y="1828800"/>
            <a:ext cx="2697480" cy="157276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566928" y="3602736"/>
            <a:ext cx="2697480" cy="1572768"/>
          </a:xfrm>
          <a:prstGeom prst="roundRect">
            <a:avLst>
              <a:gd name="adj" fmla="val 5814"/>
            </a:avLst>
          </a:prstGeom>
          <a:solidFill>
            <a:srgbClr val="1C3526"/>
          </a:solidFill>
          <a:ln w="12700">
            <a:solidFill>
              <a:srgbClr val="4E7A2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8096" y="3785616"/>
            <a:ext cx="457200" cy="457200"/>
          </a:xfrm>
          <a:prstGeom prst="ellipse">
            <a:avLst/>
          </a:prstGeom>
          <a:solidFill>
            <a:srgbClr val="7CB342"/>
          </a:solidFill>
          <a:ln/>
        </p:spPr>
      </p:sp>
      <p:sp>
        <p:nvSpPr>
          <p:cNvPr id="31" name="Text 29"/>
          <p:cNvSpPr/>
          <p:nvPr/>
        </p:nvSpPr>
        <p:spPr>
          <a:xfrm>
            <a:off x="768096" y="3785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68096" y="4297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Anti-force brute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68096" y="4754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 sur la connexion</a:t>
            </a:r>
            <a:endParaRPr lang="en-US" sz="1050" dirty="0"/>
          </a:p>
        </p:txBody>
      </p:sp>
      <p:sp>
        <p:nvSpPr>
          <p:cNvPr id="34" name="Text 32">
            <a:hlinkClick r:id="rId5" tooltip="Ouvrir : Anti-force brute" action="ppaction://hlinksldjump"/>
          </p:cNvPr>
          <p:cNvSpPr/>
          <p:nvPr/>
        </p:nvSpPr>
        <p:spPr>
          <a:xfrm>
            <a:off x="566928" y="3602736"/>
            <a:ext cx="2697480" cy="157276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3429000" y="3602736"/>
            <a:ext cx="2697480" cy="1572768"/>
          </a:xfrm>
          <a:prstGeom prst="roundRect">
            <a:avLst>
              <a:gd name="adj" fmla="val 5814"/>
            </a:avLst>
          </a:prstGeom>
          <a:solidFill>
            <a:srgbClr val="1C3526"/>
          </a:solidFill>
          <a:ln w="12700">
            <a:solidFill>
              <a:srgbClr val="4E7A2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30168" y="3785616"/>
            <a:ext cx="457200" cy="457200"/>
          </a:xfrm>
          <a:prstGeom prst="ellipse">
            <a:avLst/>
          </a:prstGeom>
          <a:solidFill>
            <a:srgbClr val="7CB342"/>
          </a:solidFill>
          <a:ln/>
        </p:spPr>
      </p:sp>
      <p:sp>
        <p:nvSpPr>
          <p:cNvPr id="37" name="Text 35"/>
          <p:cNvSpPr/>
          <p:nvPr/>
        </p:nvSpPr>
        <p:spPr>
          <a:xfrm>
            <a:off x="3630168" y="3785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3630168" y="4297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En-têtes &amp; CORS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630168" y="4754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 + origine du front</a:t>
            </a:r>
            <a:endParaRPr lang="en-US" sz="1050" dirty="0"/>
          </a:p>
        </p:txBody>
      </p:sp>
      <p:sp>
        <p:nvSpPr>
          <p:cNvPr id="40" name="Text 38">
            <a:hlinkClick r:id="rId6" tooltip="Ouvrir : En-têtes &amp; CORS" action="ppaction://hlinksldjump"/>
          </p:cNvPr>
          <p:cNvSpPr/>
          <p:nvPr/>
        </p:nvSpPr>
        <p:spPr>
          <a:xfrm>
            <a:off x="3429000" y="3602736"/>
            <a:ext cx="2697480" cy="157276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6291072" y="3602736"/>
            <a:ext cx="2697480" cy="1572768"/>
          </a:xfrm>
          <a:prstGeom prst="roundRect">
            <a:avLst>
              <a:gd name="adj" fmla="val 5814"/>
            </a:avLst>
          </a:prstGeom>
          <a:solidFill>
            <a:srgbClr val="1C3526"/>
          </a:solidFill>
          <a:ln w="12700">
            <a:solidFill>
              <a:srgbClr val="4E7A2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92240" y="3785616"/>
            <a:ext cx="457200" cy="457200"/>
          </a:xfrm>
          <a:prstGeom prst="ellipse">
            <a:avLst/>
          </a:prstGeom>
          <a:solidFill>
            <a:srgbClr val="7CB342"/>
          </a:solidFill>
          <a:ln/>
        </p:spPr>
      </p:sp>
      <p:sp>
        <p:nvSpPr>
          <p:cNvPr id="43" name="Text 41"/>
          <p:cNvSpPr/>
          <p:nvPr/>
        </p:nvSpPr>
        <p:spPr>
          <a:xfrm>
            <a:off x="6492240" y="3785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6492240" y="4297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des entrées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492240" y="4754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rejet en 400 avant le métier</a:t>
            </a:r>
            <a:endParaRPr lang="en-US" sz="1050" dirty="0"/>
          </a:p>
        </p:txBody>
      </p:sp>
      <p:sp>
        <p:nvSpPr>
          <p:cNvPr id="46" name="Text 44">
            <a:hlinkClick r:id="rId7" tooltip="Ouvrir : Validation des entrées" action="ppaction://hlinksldjump"/>
          </p:cNvPr>
          <p:cNvSpPr/>
          <p:nvPr/>
        </p:nvSpPr>
        <p:spPr>
          <a:xfrm>
            <a:off x="6291072" y="3602736"/>
            <a:ext cx="2697480" cy="157276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9153144" y="3602736"/>
            <a:ext cx="2697480" cy="1572768"/>
          </a:xfrm>
          <a:prstGeom prst="roundRect">
            <a:avLst>
              <a:gd name="adj" fmla="val 5814"/>
            </a:avLst>
          </a:prstGeom>
          <a:solidFill>
            <a:srgbClr val="1C3526"/>
          </a:solidFill>
          <a:ln w="12700">
            <a:solidFill>
              <a:srgbClr val="4E7A2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354312" y="3785616"/>
            <a:ext cx="457200" cy="457200"/>
          </a:xfrm>
          <a:prstGeom prst="ellipse">
            <a:avLst/>
          </a:prstGeom>
          <a:solidFill>
            <a:srgbClr val="7CB342"/>
          </a:solidFill>
          <a:ln/>
        </p:spPr>
      </p:sp>
      <p:sp>
        <p:nvSpPr>
          <p:cNvPr id="49" name="Text 47"/>
          <p:cNvSpPr/>
          <p:nvPr/>
        </p:nvSpPr>
        <p:spPr>
          <a:xfrm>
            <a:off x="9354312" y="3785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9354312" y="4297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Journalisation &amp; erreurs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9354312" y="4754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logs, visites, 500 masqué</a:t>
            </a:r>
            <a:endParaRPr lang="en-US" sz="1050" dirty="0"/>
          </a:p>
        </p:txBody>
      </p:sp>
      <p:sp>
        <p:nvSpPr>
          <p:cNvPr id="52" name="Text 50">
            <a:hlinkClick r:id="rId8" tooltip="Ouvrir : Journalisation &amp; erreurs" action="ppaction://hlinksldjump"/>
          </p:cNvPr>
          <p:cNvSpPr/>
          <p:nvPr/>
        </p:nvSpPr>
        <p:spPr>
          <a:xfrm>
            <a:off x="9153144" y="3602736"/>
            <a:ext cx="2697480" cy="157276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JSON Web Token (JWT) en détail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362895" y="384048"/>
            <a:ext cx="1325880" cy="365760"/>
          </a:xfrm>
          <a:prstGeom prst="roundRect">
            <a:avLst>
              <a:gd name="adj" fmla="val 20000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5" name="Text 3">
            <a:hlinkClick r:id="rId1" tooltip="Aller au menu" action="ppaction://hlinksldjump"/>
          </p:cNvPr>
          <p:cNvSpPr/>
          <p:nvPr/>
        </p:nvSpPr>
        <p:spPr>
          <a:xfrm>
            <a:off x="10362895" y="38404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Aller au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 Menu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945575" y="384048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7" name="Text 5">
            <a:hlinkClick r:id="rId2" tooltip="Retour" action="ppaction://hlinksldjump"/>
          </p:cNvPr>
          <p:cNvSpPr/>
          <p:nvPr/>
        </p:nvSpPr>
        <p:spPr>
          <a:xfrm>
            <a:off x="8945575" y="384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Retou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Sécurité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13716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carte d'identité signée : header . payload . signature. Le serveur la signe avec JWT_SECRET et la revérifie à chaque requête.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1828800"/>
            <a:ext cx="3630168" cy="1051560"/>
          </a:xfrm>
          <a:prstGeom prst="roundRect">
            <a:avLst>
              <a:gd name="adj" fmla="val 8696"/>
            </a:avLst>
          </a:prstGeom>
          <a:solidFill>
            <a:srgbClr val="ECEFEA"/>
          </a:solidFill>
          <a:ln w="12700">
            <a:solidFill>
              <a:srgbClr val="D9E2C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9808" y="19476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49808" y="2313432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alg: HS256, typ: JWT }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43400" y="1828800"/>
            <a:ext cx="3630168" cy="1051560"/>
          </a:xfrm>
          <a:prstGeom prst="roundRect">
            <a:avLst>
              <a:gd name="adj" fmla="val 8696"/>
            </a:avLst>
          </a:prstGeom>
          <a:solidFill>
            <a:srgbClr val="EAF3DD"/>
          </a:solidFill>
          <a:ln w="12700">
            <a:solidFill>
              <a:srgbClr val="D9E2C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26280" y="19476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26280" y="2313432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5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id: 4, role: 'client', exp }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19872" y="1828800"/>
            <a:ext cx="3630168" cy="1051560"/>
          </a:xfrm>
          <a:prstGeom prst="roundRect">
            <a:avLst>
              <a:gd name="adj" fmla="val 8696"/>
            </a:avLst>
          </a:prstGeom>
          <a:solidFill>
            <a:srgbClr val="FBF0D8"/>
          </a:solidFill>
          <a:ln w="12700">
            <a:solidFill>
              <a:srgbClr val="D9E2C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02752" y="19476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02752" y="2313432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HMAC(..., JWT_SECRET)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3108960"/>
            <a:ext cx="6949440" cy="2560320"/>
          </a:xfrm>
          <a:prstGeom prst="roundRect">
            <a:avLst>
              <a:gd name="adj" fmla="val 3571"/>
            </a:avLst>
          </a:prstGeom>
          <a:solidFill>
            <a:srgbClr val="11231A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310128"/>
            <a:ext cx="6446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8FB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 la connexion (authService.js)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token = jwt.sign(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id: u.id, email: u.email, role: u.role },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JWT_SECRET, { expiresIn: '1h' });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8FB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 chaque requete (middleware verifierToken)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decode = jwt.verify(token, JWT_SECRET);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8FB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-&gt; { id: 4, role: 'client', iat, exp }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26680" y="3246120"/>
            <a:ext cx="4023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token court (1 h) + refresh token long (7 j).</a:t>
            </a:r>
            <a:endParaRPr lang="en-US" sz="1250" dirty="0"/>
          </a:p>
          <a:p>
            <a:pPr marL="177800" indent="-1778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Envoyé à chaque requête : Authorization: Bearer &lt;token&gt;.</a:t>
            </a:r>
            <a:endParaRPr lang="en-US" sz="1250" dirty="0"/>
          </a:p>
          <a:p>
            <a:pPr marL="177800" indent="-1778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vérifiée → identité fiable, sans session serveur.</a:t>
            </a:r>
            <a:endParaRPr lang="en-US" sz="1250" dirty="0"/>
          </a:p>
          <a:p>
            <a:pPr marL="177800" indent="-1778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Expiré → /api/auth/refresh en délivre un nouveau.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PearTech · API REST backend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Autorisation : qui a le droit de faire quoi 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362895" y="384048"/>
            <a:ext cx="1325880" cy="365760"/>
          </a:xfrm>
          <a:prstGeom prst="roundRect">
            <a:avLst>
              <a:gd name="adj" fmla="val 20000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5" name="Text 3">
            <a:hlinkClick r:id="rId1" tooltip="Aller au menu" action="ppaction://hlinksldjump"/>
          </p:cNvPr>
          <p:cNvSpPr/>
          <p:nvPr/>
        </p:nvSpPr>
        <p:spPr>
          <a:xfrm>
            <a:off x="10362895" y="38404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Aller au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 Menu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945575" y="384048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7" name="Text 5">
            <a:hlinkClick r:id="rId2" tooltip="Retour" action="ppaction://hlinksldjump"/>
          </p:cNvPr>
          <p:cNvSpPr/>
          <p:nvPr/>
        </p:nvSpPr>
        <p:spPr>
          <a:xfrm>
            <a:off x="8945575" y="384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Retou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Sécurité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13716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L'authentification dit QUI tu es ; l'autorisation dit ce que tu PEUX faire. Deux middlewares, dans cet ordre.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1874520"/>
            <a:ext cx="5486400" cy="1325880"/>
          </a:xfrm>
          <a:prstGeom prst="roundRect">
            <a:avLst>
              <a:gd name="adj" fmla="val 8276"/>
            </a:avLst>
          </a:prstGeom>
          <a:solidFill>
            <a:srgbClr val="FBF0D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011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verifierToken — authentification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340864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 le JWT, pose req.utilisateur { id, email, role }. Pas de token valide → 401 (non connecté).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1874520"/>
            <a:ext cx="5486400" cy="1325880"/>
          </a:xfrm>
          <a:prstGeom prst="roundRect">
            <a:avLst>
              <a:gd name="adj" fmla="val 8276"/>
            </a:avLst>
          </a:prstGeom>
          <a:solidFill>
            <a:srgbClr val="FBE5E5"/>
          </a:solidFill>
          <a:ln/>
        </p:spPr>
      </p:sp>
      <p:sp>
        <p:nvSpPr>
          <p:cNvPr id="13" name="Text 11"/>
          <p:cNvSpPr/>
          <p:nvPr/>
        </p:nvSpPr>
        <p:spPr>
          <a:xfrm>
            <a:off x="6519672" y="2011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verifierAdmin — autorisation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19672" y="2340864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A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 req.utilisateur.role === 'admin'. Connecté mais pas admin → 403 (interdit).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383280"/>
            <a:ext cx="6949440" cy="2286000"/>
          </a:xfrm>
          <a:prstGeom prst="roundRect">
            <a:avLst>
              <a:gd name="adj" fmla="val 4000"/>
            </a:avLst>
          </a:prstGeom>
          <a:solidFill>
            <a:srgbClr val="11231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584448"/>
            <a:ext cx="6446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8FB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middlewares/auth.js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verifierAdmin(req, res, next) {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(!req.utilisateur || req.utilisateur.role !== 'admin')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res.status(403).json(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 erreur: 'Accès réservé aux administrateurs.' });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next();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8FB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usage : router.use(verifierToken, verifierAdmin);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26680" y="3520440"/>
            <a:ext cx="4023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 ≠ 403 : 401 = pas connecté ; 403 = connecté mais sans le droit.</a:t>
            </a:r>
            <a:endParaRPr lang="en-US" sz="1250" dirty="0"/>
          </a:p>
          <a:p>
            <a:pPr marL="177800" indent="-1778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verifierAdmin s'utilise TOUJOURS après verifierToken.</a:t>
            </a:r>
            <a:endParaRPr lang="en-US" sz="1250" dirty="0"/>
          </a:p>
          <a:p>
            <a:pPr marL="177800" indent="-1778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/api/admin et les écritures produits sont protégés ainsi.</a:t>
            </a:r>
            <a:endParaRPr lang="en-US" sz="1250" dirty="0"/>
          </a:p>
          <a:p>
            <a:pPr marL="177800" indent="-1778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rôle vient du JWT (aucun appel base) → vérification instantanée.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PearTech · API REST backend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mots de passe : bcrypt, jamais en clair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362895" y="384048"/>
            <a:ext cx="1325880" cy="365760"/>
          </a:xfrm>
          <a:prstGeom prst="roundRect">
            <a:avLst>
              <a:gd name="adj" fmla="val 20000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5" name="Text 3">
            <a:hlinkClick r:id="rId1" tooltip="Aller au menu" action="ppaction://hlinksldjump"/>
          </p:cNvPr>
          <p:cNvSpPr/>
          <p:nvPr/>
        </p:nvSpPr>
        <p:spPr>
          <a:xfrm>
            <a:off x="10362895" y="38404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Aller au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 Menu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945575" y="384048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7" name="Text 5">
            <a:hlinkClick r:id="rId2" tooltip="Retour" action="ppaction://hlinksldjump"/>
          </p:cNvPr>
          <p:cNvSpPr/>
          <p:nvPr/>
        </p:nvSpPr>
        <p:spPr>
          <a:xfrm>
            <a:off x="8945575" y="384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Retou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Sécurité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14630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ne stocke jamais le mot de passe tel quel. bcrypt le transforme en une empreinte irréversible ; à la connexion, on compare les empreintes.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240280"/>
            <a:ext cx="2468880" cy="822960"/>
          </a:xfrm>
          <a:prstGeom prst="roundRect">
            <a:avLst>
              <a:gd name="adj" fmla="val 11111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2402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2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"azerty123"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127248" y="2651760"/>
            <a:ext cx="548640" cy="0"/>
          </a:xfrm>
          <a:prstGeom prst="line">
            <a:avLst/>
          </a:prstGeom>
          <a:noFill/>
          <a:ln w="25400">
            <a:solidFill>
              <a:srgbClr val="7CB342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2606040" y="190195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bcrypt.hash(mdp, 10)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749040" y="2240280"/>
            <a:ext cx="4206240" cy="822960"/>
          </a:xfrm>
          <a:prstGeom prst="roundRect">
            <a:avLst>
              <a:gd name="adj" fmla="val 11111"/>
            </a:avLst>
          </a:prstGeom>
          <a:solidFill>
            <a:srgbClr val="EAF3DD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0" y="23317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5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$2a$10$N9qo8uLO...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49040" y="26974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E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stocké en base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66928" y="3337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À la connexion :  bcrypt.compare("azerty123", hash)  →  true / false   (on ne déchiffre jamais le hash, on le recompare)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" y="393192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Irréversible : on ne peut pas retrouver le mot de passe à partir du hash.</a:t>
            </a:r>
            <a:endParaRPr lang="en-US" sz="1300" dirty="0"/>
          </a:p>
          <a:p>
            <a:pPr marL="177800" indent="-1778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Salé : deux comptes avec le même mot de passe ont deux hash différents.</a:t>
            </a:r>
            <a:endParaRPr lang="en-US" sz="1300" dirty="0"/>
          </a:p>
          <a:p>
            <a:pPr marL="177800" indent="-1778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réglable (10 tours) : volontairement lent pour décourager le bruteforce.</a:t>
            </a:r>
            <a:endParaRPr lang="en-US" sz="1300" dirty="0"/>
          </a:p>
          <a:p>
            <a:pPr marL="177800" indent="-1778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Conséquence : même en cas de fuite de la base, les mots de passe restent protégés.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PearTech · API REST backend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L'injection SQL, et comment on s'en protège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362895" y="384048"/>
            <a:ext cx="1325880" cy="365760"/>
          </a:xfrm>
          <a:prstGeom prst="roundRect">
            <a:avLst>
              <a:gd name="adj" fmla="val 20000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5" name="Text 3">
            <a:hlinkClick r:id="rId1" tooltip="Aller au menu" action="ppaction://hlinksldjump"/>
          </p:cNvPr>
          <p:cNvSpPr/>
          <p:nvPr/>
        </p:nvSpPr>
        <p:spPr>
          <a:xfrm>
            <a:off x="10362895" y="38404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Aller au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 Menu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945575" y="384048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7" name="Text 5">
            <a:hlinkClick r:id="rId2" tooltip="Retour" action="ppaction://hlinksldjump"/>
          </p:cNvPr>
          <p:cNvSpPr/>
          <p:nvPr/>
        </p:nvSpPr>
        <p:spPr>
          <a:xfrm>
            <a:off x="8945575" y="384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Retou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Sécurité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14630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L'injection SQL = glisser du code dans un champ de saisie pour détourner la requête. La parade : les requêtes préparées (paramètres ?).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194560"/>
            <a:ext cx="5486400" cy="3383280"/>
          </a:xfrm>
          <a:prstGeom prst="roundRect">
            <a:avLst>
              <a:gd name="adj" fmla="val 3243"/>
            </a:avLst>
          </a:prstGeom>
          <a:solidFill>
            <a:srgbClr val="FBE5E5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331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Dangereux — concaténation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2743200"/>
            <a:ext cx="4983480" cy="1371600"/>
          </a:xfrm>
          <a:prstGeom prst="roundRect">
            <a:avLst>
              <a:gd name="adj" fmla="val 6667"/>
            </a:avLst>
          </a:prstGeom>
          <a:solidFill>
            <a:srgbClr val="11231A"/>
          </a:solidFill>
          <a:ln/>
        </p:spPr>
      </p:sp>
      <p:sp>
        <p:nvSpPr>
          <p:cNvPr id="12" name="Text 10"/>
          <p:cNvSpPr/>
          <p:nvPr/>
        </p:nvSpPr>
        <p:spPr>
          <a:xfrm>
            <a:off x="1078992" y="2944368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sql =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"... WHERE email = '" + email + "'";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425196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A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email vaut   ' OR '1'='1   la condition devient toujours vraie → toute la table fuit.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2194560"/>
            <a:ext cx="5486400" cy="3383280"/>
          </a:xfrm>
          <a:prstGeom prst="roundRect">
            <a:avLst>
              <a:gd name="adj" fmla="val 3243"/>
            </a:avLst>
          </a:prstGeom>
          <a:solidFill>
            <a:srgbClr val="EAF3DD"/>
          </a:solidFill>
          <a:ln/>
        </p:spPr>
      </p:sp>
      <p:sp>
        <p:nvSpPr>
          <p:cNvPr id="15" name="Text 13"/>
          <p:cNvSpPr/>
          <p:nvPr/>
        </p:nvSpPr>
        <p:spPr>
          <a:xfrm>
            <a:off x="6519672" y="2331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Sûr — requête préparée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19672" y="2743200"/>
            <a:ext cx="4983480" cy="1371600"/>
          </a:xfrm>
          <a:prstGeom prst="roundRect">
            <a:avLst>
              <a:gd name="adj" fmla="val 6667"/>
            </a:avLst>
          </a:prstGeom>
          <a:solidFill>
            <a:srgbClr val="11231A"/>
          </a:solidFill>
          <a:ln/>
        </p:spPr>
      </p:sp>
      <p:sp>
        <p:nvSpPr>
          <p:cNvPr id="17" name="Text 15"/>
          <p:cNvSpPr/>
          <p:nvPr/>
        </p:nvSpPr>
        <p:spPr>
          <a:xfrm>
            <a:off x="6775704" y="2944368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pool.query(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'... WHERE email = ?', [email]);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19672" y="425196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35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valeur passe à part : MySQL la traite comme une DONNÉE, jamais comme du code. Utilisé dans TOUS les modèles du projet.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" y="57150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 tri (ORDER BY), où le ? n'est pas possible, on n'accepte que des valeurs d'une liste blanche (prix, nom, populaire…).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PearTech · API REST backend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Anti-force brute : limiter les tentatives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362895" y="384048"/>
            <a:ext cx="1325880" cy="365760"/>
          </a:xfrm>
          <a:prstGeom prst="roundRect">
            <a:avLst>
              <a:gd name="adj" fmla="val 20000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5" name="Text 3">
            <a:hlinkClick r:id="rId1" tooltip="Aller au menu" action="ppaction://hlinksldjump"/>
          </p:cNvPr>
          <p:cNvSpPr/>
          <p:nvPr/>
        </p:nvSpPr>
        <p:spPr>
          <a:xfrm>
            <a:off x="10362895" y="38404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Aller au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 Menu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945575" y="384048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7" name="Text 5">
            <a:hlinkClick r:id="rId2" tooltip="Retour" action="ppaction://hlinksldjump"/>
          </p:cNvPr>
          <p:cNvSpPr/>
          <p:nvPr/>
        </p:nvSpPr>
        <p:spPr>
          <a:xfrm>
            <a:off x="8945575" y="384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Retou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Sécurité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141732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rend chaque essai lent ; le rate-limit borne aussi le NOMBRE d'essais. Les deux ensemble découragent l'attaque par dictionnaire.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148840"/>
            <a:ext cx="6949440" cy="2606040"/>
          </a:xfrm>
          <a:prstGeom prst="roundRect">
            <a:avLst>
              <a:gd name="adj" fmla="val 3509"/>
            </a:avLst>
          </a:prstGeom>
          <a:solidFill>
            <a:srgbClr val="11231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350008"/>
            <a:ext cx="64465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FB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authRoutes.js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limiteurConnexion = rateLimit({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windowMs: 15 * 60 * 1000,   // fenetre de 15 minutes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max: 10,                    // 10 essais max / IP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message: { erreur: 'Trop de tentatives...' }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router.post('/connexion', limiteurConnexion, ...);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26680" y="2148840"/>
            <a:ext cx="4023360" cy="1234440"/>
          </a:xfrm>
          <a:prstGeom prst="roundRect">
            <a:avLst>
              <a:gd name="adj" fmla="val 8889"/>
            </a:avLst>
          </a:prstGeom>
          <a:solidFill>
            <a:srgbClr val="FBF0D8"/>
          </a:solidFill>
          <a:ln/>
        </p:spPr>
      </p:sp>
      <p:sp>
        <p:nvSpPr>
          <p:cNvPr id="12" name="Text 10"/>
          <p:cNvSpPr/>
          <p:nvPr/>
        </p:nvSpPr>
        <p:spPr>
          <a:xfrm>
            <a:off x="7726680" y="23317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A6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/ 15 min / IP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726680" y="285292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au-delà → 429 Too Many Requests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26680" y="3520440"/>
            <a:ext cx="4023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la connexion : la porte la plus attaquée.</a:t>
            </a:r>
            <a:endParaRPr lang="en-US" sz="1250" dirty="0"/>
          </a:p>
          <a:p>
            <a:pPr marL="177800" indent="-1778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L'IP fautive est temporairement bloquée (429).</a:t>
            </a:r>
            <a:endParaRPr lang="en-US" sz="1250" dirty="0"/>
          </a:p>
          <a:p>
            <a:pPr marL="177800" indent="-1778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Réglable : fenêtre (windowMs) et nombre (max).</a:t>
            </a:r>
            <a:endParaRPr lang="en-US" sz="1250" dirty="0"/>
          </a:p>
          <a:p>
            <a:pPr marL="177800" indent="-1778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Complète bcrypt : même un robot est stoppé.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PearTech · API REST backend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En-têtes HTTP &amp; CORS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362895" y="384048"/>
            <a:ext cx="1325880" cy="365760"/>
          </a:xfrm>
          <a:prstGeom prst="roundRect">
            <a:avLst>
              <a:gd name="adj" fmla="val 20000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5" name="Text 3">
            <a:hlinkClick r:id="rId1" tooltip="Aller au menu" action="ppaction://hlinksldjump"/>
          </p:cNvPr>
          <p:cNvSpPr/>
          <p:nvPr/>
        </p:nvSpPr>
        <p:spPr>
          <a:xfrm>
            <a:off x="10362895" y="38404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Aller au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 Menu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945575" y="384048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7" name="Text 5">
            <a:hlinkClick r:id="rId2" tooltip="Retour" action="ppaction://hlinksldjump"/>
          </p:cNvPr>
          <p:cNvSpPr/>
          <p:nvPr/>
        </p:nvSpPr>
        <p:spPr>
          <a:xfrm>
            <a:off x="8945575" y="384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Retou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Sécurité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141732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protections posées en GLOBAL dans server.js, avant toute route : elles durcissent le navigateur et filtrent l'origine des appels.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148840"/>
            <a:ext cx="6949440" cy="1828800"/>
          </a:xfrm>
          <a:prstGeom prst="roundRect">
            <a:avLst>
              <a:gd name="adj" fmla="val 5000"/>
            </a:avLst>
          </a:prstGeom>
          <a:solidFill>
            <a:srgbClr val="11231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350008"/>
            <a:ext cx="6446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FB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server.js — middlewares globaux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app.use(helmet());                  // en-tetes de securite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app.use(cors({ origin: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process.env.FRONT_URL || '*' }));// origine autorisee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app.use(express.json());            // lecture du corps JSON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26680" y="2148840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E3EEFB"/>
          </a:solidFill>
          <a:ln/>
        </p:spPr>
      </p:sp>
      <p:sp>
        <p:nvSpPr>
          <p:cNvPr id="12" name="Text 10"/>
          <p:cNvSpPr/>
          <p:nvPr/>
        </p:nvSpPr>
        <p:spPr>
          <a:xfrm>
            <a:off x="7909560" y="22677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909560" y="256032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en-têtes anti clickjacking, sniffing MIME, etc.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726680" y="3108960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EAF3DD"/>
          </a:solidFill>
          <a:ln/>
        </p:spPr>
      </p:sp>
      <p:sp>
        <p:nvSpPr>
          <p:cNvPr id="15" name="Text 13"/>
          <p:cNvSpPr/>
          <p:nvPr/>
        </p:nvSpPr>
        <p:spPr>
          <a:xfrm>
            <a:off x="7909560" y="32278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909560" y="352044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 le front déclaré (FRONT_URL) peut appeler l'API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66928" y="4251960"/>
            <a:ext cx="11155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 : en-têtes de sécurité par défaut, sans configuration.</a:t>
            </a:r>
            <a:endParaRPr lang="en-US" sz="1300" dirty="0"/>
          </a:p>
          <a:p>
            <a:pPr marL="177800" indent="-1778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: un site tiers ne peut pas appeler l'API depuis le navigateur d'un utilisateur connecté.</a:t>
            </a:r>
            <a:endParaRPr lang="en-US" sz="1300" dirty="0"/>
          </a:p>
          <a:p>
            <a:pPr marL="177800" indent="-1778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Posés en global → s'appliquent à 100 % des routes.</a:t>
            </a:r>
            <a:endParaRPr lang="en-US" sz="1300" dirty="0"/>
          </a:p>
          <a:p>
            <a:pPr marL="177800" indent="-1778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FRONT_URL vient du .env : une origine différente en dev et en prod.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PearTech · API REST backend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Valider les entrées avant tout traitement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362895" y="384048"/>
            <a:ext cx="1325880" cy="365760"/>
          </a:xfrm>
          <a:prstGeom prst="roundRect">
            <a:avLst>
              <a:gd name="adj" fmla="val 20000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5" name="Text 3">
            <a:hlinkClick r:id="rId1" tooltip="Aller au menu" action="ppaction://hlinksldjump"/>
          </p:cNvPr>
          <p:cNvSpPr/>
          <p:nvPr/>
        </p:nvSpPr>
        <p:spPr>
          <a:xfrm>
            <a:off x="10362895" y="38404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Aller au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 Menu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945575" y="384048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7" name="Text 5">
            <a:hlinkClick r:id="rId2" tooltip="Retour" action="ppaction://hlinksldjump"/>
          </p:cNvPr>
          <p:cNvSpPr/>
          <p:nvPr/>
        </p:nvSpPr>
        <p:spPr>
          <a:xfrm>
            <a:off x="8945575" y="384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Retou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Sécurité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14630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express-validator pose des règles sur chaque route. Le middleware valider() renvoie 400 avec le détail si une règle échoue — avant d'atteindre le métier.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194560"/>
            <a:ext cx="5486400" cy="2377440"/>
          </a:xfrm>
          <a:prstGeom prst="roundRect">
            <a:avLst>
              <a:gd name="adj" fmla="val 3846"/>
            </a:avLst>
          </a:prstGeom>
          <a:solidFill>
            <a:srgbClr val="11231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395728"/>
            <a:ext cx="4983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8FB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règles d'inscription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body('email').isEmail(),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body('motDePasse')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.isLength({ min: 6 }),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8FB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règle d'un avis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body('note').isInt({ min: 1, max: 5 })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63640" y="2194560"/>
            <a:ext cx="5486400" cy="2377440"/>
          </a:xfrm>
          <a:prstGeom prst="roundRect">
            <a:avLst>
              <a:gd name="adj" fmla="val 3846"/>
            </a:avLst>
          </a:prstGeom>
          <a:solidFill>
            <a:srgbClr val="11231A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331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ED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si la saisie est invalide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FAC7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 Bad Request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"erreur": "Données invalides.",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"details": [{ champ: 'email',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message: 'Email invalide.' }]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6928" y="475488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Défense en profondeur : on ne fait pas confiance à la validation du front (qu'on peut contourner).</a:t>
            </a:r>
            <a:endParaRPr lang="en-US" sz="1300" dirty="0"/>
          </a:p>
          <a:p>
            <a:pPr marL="177800" indent="-1778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déclaratives, lisibles directement dans le fichier de routes.</a:t>
            </a:r>
            <a:endParaRPr lang="en-US" sz="1300" dirty="0"/>
          </a:p>
          <a:p>
            <a:pPr marL="177800" indent="-1778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middleware valider() centralise la réponse d'erreur, identique partout.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PearTech · API REST backend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Journalisation : logs &amp; visites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362895" y="384048"/>
            <a:ext cx="1325880" cy="365760"/>
          </a:xfrm>
          <a:prstGeom prst="roundRect">
            <a:avLst>
              <a:gd name="adj" fmla="val 20000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5" name="Text 3">
            <a:hlinkClick r:id="rId1" tooltip="Aller au menu" action="ppaction://hlinksldjump"/>
          </p:cNvPr>
          <p:cNvSpPr/>
          <p:nvPr/>
        </p:nvSpPr>
        <p:spPr>
          <a:xfrm>
            <a:off x="10362895" y="38404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Aller au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 Menu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945575" y="384048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7" name="Text 5">
            <a:hlinkClick r:id="rId2" tooltip="Retour" action="ppaction://hlinksldjump"/>
          </p:cNvPr>
          <p:cNvSpPr/>
          <p:nvPr/>
        </p:nvSpPr>
        <p:spPr>
          <a:xfrm>
            <a:off x="8945575" y="384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Retou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Sécurité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141732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middleware journal trace chaque appel /api en « fire-and-forget » (sans ralentir la réponse). Deux tables, deux usages.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148840"/>
            <a:ext cx="6949440" cy="2468880"/>
          </a:xfrm>
          <a:prstGeom prst="roundRect">
            <a:avLst>
              <a:gd name="adj" fmla="val 3704"/>
            </a:avLst>
          </a:prstGeom>
          <a:solidFill>
            <a:srgbClr val="11231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350008"/>
            <a:ext cx="6446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8FB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middlewares/journal.js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Log.ajouterVisite({ chemin, methode, ip })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.catch(() =&gt; {});           // fire-and-forget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res.on('finish', () =&gt; {       // a la fin de la reponse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(res.statusCode &gt;= 400)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Log.ajouterLog({ niveau, route, statut })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.catch(() =&gt; {});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26680" y="214884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EAF3DD"/>
          </a:solidFill>
          <a:ln/>
        </p:spPr>
      </p:sp>
      <p:sp>
        <p:nvSpPr>
          <p:cNvPr id="12" name="Text 10"/>
          <p:cNvSpPr/>
          <p:nvPr/>
        </p:nvSpPr>
        <p:spPr>
          <a:xfrm>
            <a:off x="7909560" y="22860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 statistiques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909560" y="260604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E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appel API = 1 visite (page, méthode, IP)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726680" y="338328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FBE5E5"/>
          </a:solidFill>
          <a:ln/>
        </p:spPr>
      </p:sp>
      <p:sp>
        <p:nvSpPr>
          <p:cNvPr id="15" name="Text 13"/>
          <p:cNvSpPr/>
          <p:nvPr/>
        </p:nvSpPr>
        <p:spPr>
          <a:xfrm>
            <a:off x="7909560" y="35204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 logs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909560" y="384048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7A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≥ 400 = 1 log (route + statut)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66928" y="4846320"/>
            <a:ext cx="11155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Fire-and-forget » (.catch) : aucune latence ajoutée à la réponse.</a:t>
            </a:r>
            <a:endParaRPr lang="en-US" sz="1300" dirty="0"/>
          </a:p>
          <a:p>
            <a:pPr marL="177800" indent="-1778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ne trace que /api (pas les fichiers statiques).</a:t>
            </a:r>
            <a:endParaRPr lang="en-US" sz="1300" dirty="0"/>
          </a:p>
          <a:p>
            <a:pPr marL="177800" indent="-1778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deux tables alimentent le tableau de bord admin (pages vues, erreurs récentes).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PearTech · API REST backend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13 tables : à quoi sert chacune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362895" y="384048"/>
            <a:ext cx="1325880" cy="365760"/>
          </a:xfrm>
          <a:prstGeom prst="roundRect">
            <a:avLst>
              <a:gd name="adj" fmla="val 20000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5" name="Text 3">
            <a:hlinkClick r:id="rId1" tooltip="Aller au menu" action="ppaction://hlinksldjump"/>
          </p:cNvPr>
          <p:cNvSpPr/>
          <p:nvPr/>
        </p:nvSpPr>
        <p:spPr>
          <a:xfrm>
            <a:off x="10362895" y="38404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Aller au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 Menu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135331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table a un rôle précis. Regroupées par thème, avec leurs colonnes clés.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5577840" cy="1408176"/>
          </a:xfrm>
          <a:prstGeom prst="roundRect">
            <a:avLst>
              <a:gd name="adj" fmla="val 6494"/>
            </a:avLst>
          </a:prstGeom>
          <a:solidFill>
            <a:srgbClr val="E3EEFB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8013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95528" y="2093976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categories</a:t>
            </a:r>
            <a:pPr indent="0" marL="0">
              <a:buNone/>
            </a:pPr>
            <a:r>
              <a:rPr lang="en-US" sz="11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les rayons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05256" y="2322576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id, nom, slug, icon, image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95528" y="2569464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produits</a:t>
            </a:r>
            <a:pPr indent="0" marL="0">
              <a:buNone/>
            </a:pPr>
            <a:r>
              <a:rPr lang="en-US" sz="11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le cœur du catalogue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05256" y="2798064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prix, stock, categorie_id→, specs/options/images (JSON)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66928" y="3182112"/>
            <a:ext cx="5577840" cy="1408176"/>
          </a:xfrm>
          <a:prstGeom prst="roundRect">
            <a:avLst>
              <a:gd name="adj" fmla="val 6494"/>
            </a:avLst>
          </a:prstGeom>
          <a:solidFill>
            <a:srgbClr val="EAF3DD"/>
          </a:solidFill>
          <a:ln/>
        </p:spPr>
      </p:sp>
      <p:sp>
        <p:nvSpPr>
          <p:cNvPr id="14" name="Text 12"/>
          <p:cNvSpPr/>
          <p:nvPr/>
        </p:nvSpPr>
        <p:spPr>
          <a:xfrm>
            <a:off x="795528" y="32918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95528" y="3584448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utilisateurs</a:t>
            </a:r>
            <a:pPr indent="0" marL="0">
              <a:buNone/>
            </a:pPr>
            <a:r>
              <a:rPr lang="en-US" sz="11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clients &amp; admins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05256" y="3813048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prenom, nom, email∗, mot_de_passe, role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95528" y="4059936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adresses</a:t>
            </a:r>
            <a:pPr indent="0" marL="0">
              <a:buNone/>
            </a:pPr>
            <a:r>
              <a:rPr lang="en-US" sz="11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carnet de livraison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05256" y="4288536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utilisateur_id→, rue, code_postal, ville, principale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6928" y="4672584"/>
            <a:ext cx="5577840" cy="1408176"/>
          </a:xfrm>
          <a:prstGeom prst="roundRect">
            <a:avLst>
              <a:gd name="adj" fmla="val 6494"/>
            </a:avLst>
          </a:prstGeom>
          <a:solidFill>
            <a:srgbClr val="FBF0D8"/>
          </a:solidFill>
          <a:ln/>
        </p:spPr>
      </p:sp>
      <p:sp>
        <p:nvSpPr>
          <p:cNvPr id="20" name="Text 18"/>
          <p:cNvSpPr/>
          <p:nvPr/>
        </p:nvSpPr>
        <p:spPr>
          <a:xfrm>
            <a:off x="795528" y="47823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95528" y="5074920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 + cart_items</a:t>
            </a:r>
            <a:pPr indent="0" marL="0">
              <a:buNone/>
            </a:pPr>
            <a:r>
              <a:rPr lang="en-US" sz="1150" dirty="0">
                <a:solidFill>
                  <a:srgbClr val="9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le panier persistant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05256" y="5303520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cart/client ; lignes : produit_id→, quantite, options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95528" y="5550408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commandes + commande_articles</a:t>
            </a:r>
            <a:pPr indent="0" marL="0">
              <a:buNone/>
            </a:pPr>
            <a:r>
              <a:rPr lang="en-US" sz="1150" dirty="0">
                <a:solidFill>
                  <a:srgbClr val="9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les achats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05256" y="5779008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montants, statut ; lignes figées : nom_produit, prix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355080" y="1691640"/>
            <a:ext cx="5394960" cy="1883664"/>
          </a:xfrm>
          <a:prstGeom prst="roundRect">
            <a:avLst>
              <a:gd name="adj" fmla="val 4854"/>
            </a:avLst>
          </a:prstGeom>
          <a:solidFill>
            <a:srgbClr val="FBEAF0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0" y="18013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9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83680" y="2093976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favoris</a:t>
            </a:r>
            <a:pPr indent="0" marL="0">
              <a:buNone/>
            </a:pPr>
            <a:r>
              <a:rPr lang="en-US" sz="1150" dirty="0">
                <a:solidFill>
                  <a:srgbClr val="99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produits aimés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693408" y="2322576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utilisateur_id→, produit_id→  (∗ unique)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583680" y="2569464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reviews</a:t>
            </a:r>
            <a:pPr indent="0" marL="0">
              <a:buNone/>
            </a:pPr>
            <a:r>
              <a:rPr lang="en-US" sz="1150" dirty="0">
                <a:solidFill>
                  <a:srgbClr val="99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avis &amp; notes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693408" y="2798064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 1-5, commentaire  (∗ 1 avis/produit)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583680" y="3044952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messages_contact</a:t>
            </a:r>
            <a:pPr indent="0" marL="0">
              <a:buNone/>
            </a:pPr>
            <a:r>
              <a:rPr lang="en-US" sz="1150" dirty="0">
                <a:solidFill>
                  <a:srgbClr val="99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formulaire de contact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693408" y="3273552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nom, email, sujet, message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355080" y="3657600"/>
            <a:ext cx="5394960" cy="1408176"/>
          </a:xfrm>
          <a:prstGeom prst="roundRect">
            <a:avLst>
              <a:gd name="adj" fmla="val 6494"/>
            </a:avLst>
          </a:prstGeom>
          <a:solidFill>
            <a:srgbClr val="F1F1EC"/>
          </a:solidFill>
          <a:ln/>
        </p:spPr>
      </p:sp>
      <p:sp>
        <p:nvSpPr>
          <p:cNvPr id="34" name="Text 32"/>
          <p:cNvSpPr/>
          <p:nvPr/>
        </p:nvSpPr>
        <p:spPr>
          <a:xfrm>
            <a:off x="6583680" y="37673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583680" y="4059936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logs</a:t>
            </a:r>
            <a:pPr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erreurs applicatives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693408" y="4288536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niveau, message, route, statut, ip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583680" y="4535424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statistiques</a:t>
            </a:r>
            <a:pPr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visites du site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693408" y="4764024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chemin, methode, ip, user_agent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355080" y="5029200"/>
            <a:ext cx="5394960" cy="1005840"/>
          </a:xfrm>
          <a:prstGeom prst="roundRect">
            <a:avLst>
              <a:gd name="adj" fmla="val 9091"/>
            </a:avLst>
          </a:prstGeom>
          <a:solidFill>
            <a:srgbClr val="11231A"/>
          </a:solidFill>
          <a:ln/>
        </p:spPr>
      </p:sp>
      <p:sp>
        <p:nvSpPr>
          <p:cNvPr id="40" name="Text 38"/>
          <p:cNvSpPr/>
          <p:nvPr/>
        </p:nvSpPr>
        <p:spPr>
          <a:xfrm>
            <a:off x="6583680" y="51389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ED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∗</a:t>
            </a:r>
            <a:pPr indent="0" marL="0">
              <a:buNone/>
            </a:pPr>
            <a:r>
              <a:rPr lang="en-US" sz="1150" dirty="0">
                <a:solidFill>
                  <a:srgbClr val="C7D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UNIQUE   ·   </a:t>
            </a:r>
            <a:pPr indent="0" marL="0">
              <a:buNone/>
            </a:pPr>
            <a:r>
              <a:rPr lang="en-US" sz="1150" b="1" dirty="0">
                <a:solidFill>
                  <a:srgbClr val="AED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pPr indent="0" marL="0">
              <a:buNone/>
            </a:pPr>
            <a:r>
              <a:rPr lang="en-US" sz="1150" dirty="0">
                <a:solidFill>
                  <a:srgbClr val="C7D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clé étrangère   ·   </a:t>
            </a:r>
            <a:pPr indent="0" marL="0">
              <a:buNone/>
            </a:pPr>
            <a:r>
              <a:rPr lang="en-US" sz="1150" b="1" dirty="0">
                <a:solidFill>
                  <a:srgbClr val="AED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pPr indent="0" marL="0">
              <a:buNone/>
            </a:pPr>
            <a:r>
              <a:rPr lang="en-US" sz="1150" dirty="0">
                <a:solidFill>
                  <a:srgbClr val="C7D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id auto-incrémenté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583680" y="55321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F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= champ flexible (specs, options…) ; le reste est 100 % relationnel.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PearTech · API REST backend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modèle relationnel : clés &amp; intégrité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362895" y="384048"/>
            <a:ext cx="1325880" cy="365760"/>
          </a:xfrm>
          <a:prstGeom prst="roundRect">
            <a:avLst>
              <a:gd name="adj" fmla="val 20000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5" name="Text 3">
            <a:hlinkClick r:id="rId1" tooltip="Aller au menu" action="ppaction://hlinksldjump"/>
          </p:cNvPr>
          <p:cNvSpPr/>
          <p:nvPr/>
        </p:nvSpPr>
        <p:spPr>
          <a:xfrm>
            <a:off x="10362895" y="38404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Aller au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 Menu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13258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utilisateurs et produits sont les pivots. Les lignes vertes = clés étrangères qui relient les tables.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520440" y="2020824"/>
            <a:ext cx="1463040" cy="0"/>
          </a:xfrm>
          <a:prstGeom prst="line">
            <a:avLst/>
          </a:prstGeom>
          <a:noFill/>
          <a:ln w="19050">
            <a:solidFill>
              <a:srgbClr val="9BB86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78040" y="2020824"/>
            <a:ext cx="1463040" cy="0"/>
          </a:xfrm>
          <a:prstGeom prst="line">
            <a:avLst/>
          </a:prstGeom>
          <a:noFill/>
          <a:ln w="19050">
            <a:solidFill>
              <a:srgbClr val="9BB86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78040" y="2212848"/>
            <a:ext cx="1463040" cy="731520"/>
          </a:xfrm>
          <a:prstGeom prst="line">
            <a:avLst/>
          </a:prstGeom>
          <a:noFill/>
          <a:ln w="19050">
            <a:solidFill>
              <a:srgbClr val="9BB86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83480" y="2249424"/>
            <a:ext cx="-1463040" cy="694944"/>
          </a:xfrm>
          <a:prstGeom prst="line">
            <a:avLst/>
          </a:prstGeom>
          <a:noFill/>
          <a:ln w="19050">
            <a:solidFill>
              <a:srgbClr val="9BB86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17520" y="3447288"/>
            <a:ext cx="2057400" cy="466344"/>
          </a:xfrm>
          <a:prstGeom prst="line">
            <a:avLst/>
          </a:prstGeom>
          <a:noFill/>
          <a:ln w="19050">
            <a:solidFill>
              <a:srgbClr val="9BB86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20440" y="4215384"/>
            <a:ext cx="1463040" cy="0"/>
          </a:xfrm>
          <a:prstGeom prst="line">
            <a:avLst/>
          </a:prstGeom>
          <a:noFill/>
          <a:ln w="19050">
            <a:solidFill>
              <a:srgbClr val="9BB86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78040" y="4215384"/>
            <a:ext cx="1463040" cy="0"/>
          </a:xfrm>
          <a:prstGeom prst="line">
            <a:avLst/>
          </a:prstGeom>
          <a:noFill/>
          <a:ln w="19050">
            <a:solidFill>
              <a:srgbClr val="9BB86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96528" y="3886200"/>
            <a:ext cx="-1892808" cy="-1536192"/>
          </a:xfrm>
          <a:prstGeom prst="line">
            <a:avLst/>
          </a:prstGeom>
          <a:noFill/>
          <a:ln w="19050">
            <a:solidFill>
              <a:srgbClr val="9BB86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25880" y="169164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453896" y="17556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adresses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53896" y="20299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user → 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983480" y="169164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EAF3DD"/>
          </a:solidFill>
          <a:ln w="12700">
            <a:solidFill>
              <a:srgbClr val="D9E2C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111496" y="17556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utilisateurs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11496" y="20299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id · email∗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641080" y="169164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769096" y="17556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769096" y="20299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articles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325880" y="278892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453896" y="28529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favoris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453896" y="31272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(user,produit)∗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641080" y="278892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769096" y="28529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769096" y="31272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cart_items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325880" y="388620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E3EEFB"/>
          </a:solidFill>
          <a:ln w="12700">
            <a:solidFill>
              <a:srgbClr val="D9E2C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453896" y="39502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453896" y="42245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id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983480" y="388620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E3EEFB"/>
          </a:solidFill>
          <a:ln w="12700">
            <a:solidFill>
              <a:srgbClr val="D9E2C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111496" y="39502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produits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111496" y="42245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id · slug∗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641080" y="388620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769096" y="39502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769096" y="42245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(user,produit)∗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66928" y="4800600"/>
            <a:ext cx="3602736" cy="1234440"/>
          </a:xfrm>
          <a:prstGeom prst="roundRect">
            <a:avLst>
              <a:gd name="adj" fmla="val 7407"/>
            </a:avLst>
          </a:prstGeom>
          <a:solidFill>
            <a:srgbClr val="FAECE7"/>
          </a:solidFill>
          <a:ln/>
        </p:spPr>
      </p:sp>
      <p:sp>
        <p:nvSpPr>
          <p:cNvPr id="40" name="Text 38"/>
          <p:cNvSpPr/>
          <p:nvPr/>
        </p:nvSpPr>
        <p:spPr>
          <a:xfrm>
            <a:off x="768096" y="4919472"/>
            <a:ext cx="3236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93C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DELETE CASCADE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768096" y="5230368"/>
            <a:ext cx="3236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 un utilisateur supprime en chaîne ses adresses, favoris, panier, commandes et avis.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361688" y="4800600"/>
            <a:ext cx="3602736" cy="1234440"/>
          </a:xfrm>
          <a:prstGeom prst="roundRect">
            <a:avLst>
              <a:gd name="adj" fmla="val 7407"/>
            </a:avLst>
          </a:prstGeom>
          <a:solidFill>
            <a:srgbClr val="FBF0D8"/>
          </a:solidFill>
          <a:ln/>
        </p:spPr>
      </p:sp>
      <p:sp>
        <p:nvSpPr>
          <p:cNvPr id="43" name="Text 41"/>
          <p:cNvSpPr/>
          <p:nvPr/>
        </p:nvSpPr>
        <p:spPr>
          <a:xfrm>
            <a:off x="4562856" y="4919472"/>
            <a:ext cx="3236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DELETE SET NULL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4562856" y="5230368"/>
            <a:ext cx="3236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commande_articles.produit_id passe à NULL : la commande garde son historique même si le produit disparaît.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156448" y="4800600"/>
            <a:ext cx="3602736" cy="1234440"/>
          </a:xfrm>
          <a:prstGeom prst="roundRect">
            <a:avLst>
              <a:gd name="adj" fmla="val 7407"/>
            </a:avLst>
          </a:prstGeom>
          <a:solidFill>
            <a:srgbClr val="E1F5EE"/>
          </a:solidFill>
          <a:ln/>
        </p:spPr>
      </p:sp>
      <p:sp>
        <p:nvSpPr>
          <p:cNvPr id="46" name="Text 44"/>
          <p:cNvSpPr/>
          <p:nvPr/>
        </p:nvSpPr>
        <p:spPr>
          <a:xfrm>
            <a:off x="8357616" y="4919472"/>
            <a:ext cx="3236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6E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RESTRICT &amp; UNIQUE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8357616" y="5230368"/>
            <a:ext cx="3236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de supprimer une catégorie utilisée. UNIQUE bloque les doublons : email, slug, 1 avis/produit.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66928" y="6172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clé étrangère : logs et statistiques — on garde la trace même si le compte est supprimé.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PearTech · API REST backend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pas de table « admin » 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362895" y="384048"/>
            <a:ext cx="1325880" cy="365760"/>
          </a:xfrm>
          <a:prstGeom prst="roundRect">
            <a:avLst>
              <a:gd name="adj" fmla="val 20000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5" name="Text 3">
            <a:hlinkClick r:id="rId1" tooltip="Aller au menu" action="ppaction://hlinksldjump"/>
          </p:cNvPr>
          <p:cNvSpPr/>
          <p:nvPr/>
        </p:nvSpPr>
        <p:spPr>
          <a:xfrm>
            <a:off x="10362895" y="38404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Aller au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 Menu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y a un espace d'administration… mais aucune table admin dans la base. C'est volontaire.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1965960"/>
            <a:ext cx="6126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administrateur n'est pas une entité différente d'un client : c'est un utilisateur avec plus de droits.</a:t>
            </a:r>
            <a:endParaRPr lang="en-US" sz="1300" dirty="0"/>
          </a:p>
          <a:p>
            <a:pPr marL="177800" indent="-1778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deux ont un email, un mot de passe, un profil… Une table admin dupliquerait tout ça.</a:t>
            </a:r>
            <a:endParaRPr lang="en-US" sz="1300" dirty="0"/>
          </a:p>
          <a:p>
            <a:pPr marL="177800" indent="-1778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ajoute donc une colonne role à la table utilisateurs :  'client' (défaut) ou 'admin'.</a:t>
            </a:r>
            <a:endParaRPr lang="en-US" sz="1300" dirty="0"/>
          </a:p>
          <a:p>
            <a:pPr marL="177800" indent="-1778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le principe RBAC — Role-Based Access Control : un seul compte, des droits selon le rôle.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040880" y="1965960"/>
            <a:ext cx="4709160" cy="2697480"/>
          </a:xfrm>
          <a:prstGeom prst="roundRect">
            <a:avLst>
              <a:gd name="adj" fmla="val 4068"/>
            </a:avLst>
          </a:prstGeom>
          <a:solidFill>
            <a:srgbClr val="F3F7EC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269480" y="2148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  utilisateurs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60920" y="25420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098280" y="25420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60920" y="288950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prenom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098280" y="288950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60920" y="323697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098280" y="32369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360920" y="35844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098280" y="35844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 (unique)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360920" y="39319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mot_de_passe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098280" y="39319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 (bcrypt)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223760" y="4261104"/>
            <a:ext cx="4343400" cy="329184"/>
          </a:xfrm>
          <a:prstGeom prst="roundRect">
            <a:avLst>
              <a:gd name="adj" fmla="val 11111"/>
            </a:avLst>
          </a:prstGeom>
          <a:solidFill>
            <a:srgbClr val="EAF3DD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60920" y="42793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5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098280" y="42793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5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'client' | 'admin'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66928" y="4800600"/>
            <a:ext cx="6126480" cy="1234440"/>
          </a:xfrm>
          <a:prstGeom prst="roundRect">
            <a:avLst>
              <a:gd name="adj" fmla="val 7407"/>
            </a:avLst>
          </a:prstGeom>
          <a:solidFill>
            <a:srgbClr val="11231A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937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ED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C'EST APPLIQUÉ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22960" y="5230368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7D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la connexion, le JWT embarque le role. verifierAdmin lit req.utilisateur.role : si ce n'est pas 'admin', il renvoie 403. Promouvoir un client = changer une seule valeur.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040880" y="4800600"/>
            <a:ext cx="2240280" cy="1234440"/>
          </a:xfrm>
          <a:prstGeom prst="roundRect">
            <a:avLst>
              <a:gd name="adj" fmla="val 7407"/>
            </a:avLst>
          </a:prstGeom>
          <a:solidFill>
            <a:srgbClr val="FBE5E5"/>
          </a:solidFill>
          <a:ln/>
        </p:spPr>
      </p:sp>
      <p:sp>
        <p:nvSpPr>
          <p:cNvPr id="27" name="Text 25"/>
          <p:cNvSpPr/>
          <p:nvPr/>
        </p:nvSpPr>
        <p:spPr>
          <a:xfrm>
            <a:off x="7223760" y="49377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Table admin séparée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223760" y="5285232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7A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 dupliqués, deux systèmes de login.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418320" y="4800600"/>
            <a:ext cx="2331720" cy="1234440"/>
          </a:xfrm>
          <a:prstGeom prst="roundRect">
            <a:avLst>
              <a:gd name="adj" fmla="val 7407"/>
            </a:avLst>
          </a:prstGeom>
          <a:solidFill>
            <a:srgbClr val="EAF3DD"/>
          </a:solidFill>
          <a:ln/>
        </p:spPr>
      </p:sp>
      <p:sp>
        <p:nvSpPr>
          <p:cNvPr id="30" name="Text 28"/>
          <p:cNvSpPr/>
          <p:nvPr/>
        </p:nvSpPr>
        <p:spPr>
          <a:xfrm>
            <a:off x="9601200" y="4937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Colonne role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601200" y="5285232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35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compte, un seul login, droits selon le rôle.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PearTech · API REST backend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transactions : tout ou rien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362895" y="384048"/>
            <a:ext cx="1325880" cy="365760"/>
          </a:xfrm>
          <a:prstGeom prst="roundRect">
            <a:avLst>
              <a:gd name="adj" fmla="val 20000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5" name="Text 3">
            <a:hlinkClick r:id="rId1" tooltip="Aller au menu" action="ppaction://hlinksldjump"/>
          </p:cNvPr>
          <p:cNvSpPr/>
          <p:nvPr/>
        </p:nvSpPr>
        <p:spPr>
          <a:xfrm>
            <a:off x="10362895" y="38404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Aller au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 Menu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14630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une commande = plusieurs écritures liées. Une transaction garantit qu'elles réussissent toutes ensemble, ou qu'aucune n'est appliquée.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2286000"/>
            <a:ext cx="1993392" cy="914400"/>
          </a:xfrm>
          <a:prstGeom prst="roundRect">
            <a:avLst>
              <a:gd name="adj" fmla="val 10000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1792" y="2395728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" y="2761488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ouvre la transaction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78608" y="2743200"/>
            <a:ext cx="182880" cy="0"/>
          </a:xfrm>
          <a:prstGeom prst="line">
            <a:avLst/>
          </a:prstGeom>
          <a:noFill/>
          <a:ln w="25400">
            <a:solidFill>
              <a:srgbClr val="7CB34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807208" y="2286000"/>
            <a:ext cx="1993392" cy="914400"/>
          </a:xfrm>
          <a:prstGeom prst="roundRect">
            <a:avLst>
              <a:gd name="adj" fmla="val 10000"/>
            </a:avLst>
          </a:prstGeom>
          <a:solidFill>
            <a:srgbClr val="EAF3DD"/>
          </a:solidFill>
          <a:ln w="12700">
            <a:solidFill>
              <a:srgbClr val="D9E2C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862072" y="2395728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commande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62072" y="2761488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ligne principale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18888" y="2743200"/>
            <a:ext cx="182880" cy="0"/>
          </a:xfrm>
          <a:prstGeom prst="line">
            <a:avLst/>
          </a:prstGeom>
          <a:noFill/>
          <a:ln w="25400">
            <a:solidFill>
              <a:srgbClr val="7CB34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047488" y="2286000"/>
            <a:ext cx="1993392" cy="914400"/>
          </a:xfrm>
          <a:prstGeom prst="roundRect">
            <a:avLst>
              <a:gd name="adj" fmla="val 10000"/>
            </a:avLst>
          </a:prstGeom>
          <a:solidFill>
            <a:srgbClr val="EAF3DD"/>
          </a:solidFill>
          <a:ln w="12700">
            <a:solidFill>
              <a:srgbClr val="D9E2C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102352" y="2395728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articles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02352" y="2761488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produit commandé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059168" y="2743200"/>
            <a:ext cx="182880" cy="0"/>
          </a:xfrm>
          <a:prstGeom prst="line">
            <a:avLst/>
          </a:prstGeom>
          <a:noFill/>
          <a:ln w="25400">
            <a:solidFill>
              <a:srgbClr val="7CB34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287768" y="2286000"/>
            <a:ext cx="1993392" cy="914400"/>
          </a:xfrm>
          <a:prstGeom prst="roundRect">
            <a:avLst>
              <a:gd name="adj" fmla="val 10000"/>
            </a:avLst>
          </a:prstGeom>
          <a:solidFill>
            <a:srgbClr val="EAF3DD"/>
          </a:solidFill>
          <a:ln w="12700">
            <a:solidFill>
              <a:srgbClr val="D9E2C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42632" y="2395728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stock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42632" y="2761488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décrémente les quantités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299448" y="2743200"/>
            <a:ext cx="182880" cy="0"/>
          </a:xfrm>
          <a:prstGeom prst="line">
            <a:avLst/>
          </a:prstGeom>
          <a:noFill/>
          <a:ln w="25400">
            <a:solidFill>
              <a:srgbClr val="7CB342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528048" y="2286000"/>
            <a:ext cx="1993392" cy="914400"/>
          </a:xfrm>
          <a:prstGeom prst="roundRect">
            <a:avLst>
              <a:gd name="adj" fmla="val 10000"/>
            </a:avLst>
          </a:prstGeom>
          <a:solidFill>
            <a:srgbClr val="D6EBC4"/>
          </a:solidFill>
          <a:ln w="12700">
            <a:solidFill>
              <a:srgbClr val="D9E2C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582912" y="2395728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582912" y="2761488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est validé ✓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6928" y="352044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FBE5E5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36758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étape échoue ?  →  ROLLBACK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22960" y="40690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A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est annulé : pas de commande à moitié créée, pas de stock décrémenté à tort. La base reste cohérente.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63640" y="352044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EAF3DD"/>
          </a:solidFill>
          <a:ln/>
        </p:spPr>
      </p:sp>
      <p:sp>
        <p:nvSpPr>
          <p:cNvPr id="30" name="Text 28"/>
          <p:cNvSpPr/>
          <p:nvPr/>
        </p:nvSpPr>
        <p:spPr>
          <a:xfrm>
            <a:off x="6519672" y="36758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L'annulation aussi est protégée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519672" y="40690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35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… FOR UPDATE pose un verrou le temps de remettre les produits en stock — pas de double annulation concurrente.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66928" y="51663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la garantie ACID : une transaction est Atomique (tout ou rien), Cohérente, Isolée et Durable.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PearTech · API REST backend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12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ED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INTERACTIF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Explorez le backend par domaine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Cliquez une carte pour ouvrir sa fiche : endpoints, accès, chaîne d'appel et règles métier.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3611880" cy="1298448"/>
          </a:xfrm>
          <a:prstGeom prst="roundRect">
            <a:avLst>
              <a:gd name="adj" fmla="val 8451"/>
            </a:avLst>
          </a:prstGeom>
          <a:solidFill>
            <a:srgbClr val="1C3526"/>
          </a:solidFill>
          <a:ln w="12700">
            <a:solidFill>
              <a:srgbClr val="4E7A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240280"/>
            <a:ext cx="731520" cy="731520"/>
          </a:xfrm>
          <a:prstGeom prst="ellipse">
            <a:avLst/>
          </a:prstGeom>
          <a:solidFill>
            <a:srgbClr val="7CB34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40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709928" y="220370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 &amp; Catalogue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09928" y="2697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D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endpoints  ·  </a:t>
            </a:r>
            <a:pPr indent="0" marL="0">
              <a:buNone/>
            </a:pPr>
            <a:r>
              <a:rPr lang="en-US" sz="1150" dirty="0">
                <a:solidFill>
                  <a:srgbClr val="B9C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1150" dirty="0"/>
          </a:p>
        </p:txBody>
      </p:sp>
      <p:sp>
        <p:nvSpPr>
          <p:cNvPr id="10" name="Text 8">
            <a:hlinkClick r:id="rId1" tooltip="Ouvrir : Produits &amp; Catalogue" action="ppaction://hlinksldjump"/>
          </p:cNvPr>
          <p:cNvSpPr/>
          <p:nvPr/>
        </p:nvSpPr>
        <p:spPr>
          <a:xfrm>
            <a:off x="566928" y="1965960"/>
            <a:ext cx="3611880" cy="129844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379976" y="1965960"/>
            <a:ext cx="3611880" cy="1298448"/>
          </a:xfrm>
          <a:prstGeom prst="roundRect">
            <a:avLst>
              <a:gd name="adj" fmla="val 8451"/>
            </a:avLst>
          </a:prstGeom>
          <a:solidFill>
            <a:srgbClr val="1C3526"/>
          </a:solidFill>
          <a:ln w="12700">
            <a:solidFill>
              <a:srgbClr val="4E7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36008" y="2240280"/>
            <a:ext cx="731520" cy="731520"/>
          </a:xfrm>
          <a:prstGeom prst="ellipse">
            <a:avLst/>
          </a:prstGeom>
          <a:solidFill>
            <a:srgbClr val="7CB342"/>
          </a:solidFill>
          <a:ln/>
        </p:spPr>
      </p:sp>
      <p:sp>
        <p:nvSpPr>
          <p:cNvPr id="13" name="Text 11"/>
          <p:cNvSpPr/>
          <p:nvPr/>
        </p:nvSpPr>
        <p:spPr>
          <a:xfrm>
            <a:off x="4636008" y="2240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522976" y="220370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522976" y="2697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D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endpoints  ·  </a:t>
            </a:r>
            <a:pPr indent="0" marL="0">
              <a:buNone/>
            </a:pPr>
            <a:r>
              <a:rPr lang="en-US" sz="1150" dirty="0">
                <a:solidFill>
                  <a:srgbClr val="B9C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</a:t>
            </a:r>
            <a:endParaRPr lang="en-US" sz="1150" dirty="0"/>
          </a:p>
        </p:txBody>
      </p:sp>
      <p:sp>
        <p:nvSpPr>
          <p:cNvPr id="16" name="Text 14">
            <a:hlinkClick r:id="rId2" tooltip="Ouvrir : Panier" action="ppaction://hlinksldjump"/>
          </p:cNvPr>
          <p:cNvSpPr/>
          <p:nvPr/>
        </p:nvSpPr>
        <p:spPr>
          <a:xfrm>
            <a:off x="4379976" y="1965960"/>
            <a:ext cx="3611880" cy="129844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8193024" y="1965960"/>
            <a:ext cx="3611880" cy="1298448"/>
          </a:xfrm>
          <a:prstGeom prst="roundRect">
            <a:avLst>
              <a:gd name="adj" fmla="val 8451"/>
            </a:avLst>
          </a:prstGeom>
          <a:solidFill>
            <a:srgbClr val="1C3526"/>
          </a:solidFill>
          <a:ln w="12700">
            <a:solidFill>
              <a:srgbClr val="4E7A2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49056" y="2240280"/>
            <a:ext cx="731520" cy="731520"/>
          </a:xfrm>
          <a:prstGeom prst="ellipse">
            <a:avLst/>
          </a:prstGeom>
          <a:solidFill>
            <a:srgbClr val="7CB342"/>
          </a:solidFill>
          <a:ln/>
        </p:spPr>
      </p:sp>
      <p:sp>
        <p:nvSpPr>
          <p:cNvPr id="19" name="Text 17"/>
          <p:cNvSpPr/>
          <p:nvPr/>
        </p:nvSpPr>
        <p:spPr>
          <a:xfrm>
            <a:off x="8449056" y="2240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336024" y="220370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 (Reviews)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336024" y="2697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D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endpoints  ·  </a:t>
            </a:r>
            <a:pPr indent="0" marL="0">
              <a:buNone/>
            </a:pPr>
            <a:r>
              <a:rPr lang="en-US" sz="1150" dirty="0">
                <a:solidFill>
                  <a:srgbClr val="B9C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</a:t>
            </a:r>
            <a:endParaRPr lang="en-US" sz="1150" dirty="0"/>
          </a:p>
        </p:txBody>
      </p:sp>
      <p:sp>
        <p:nvSpPr>
          <p:cNvPr id="22" name="Text 20">
            <a:hlinkClick r:id="rId3" tooltip="Ouvrir : Avis (Reviews)" action="ppaction://hlinksldjump"/>
          </p:cNvPr>
          <p:cNvSpPr/>
          <p:nvPr/>
        </p:nvSpPr>
        <p:spPr>
          <a:xfrm>
            <a:off x="8193024" y="1965960"/>
            <a:ext cx="3611880" cy="129844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566928" y="3465576"/>
            <a:ext cx="3611880" cy="1298448"/>
          </a:xfrm>
          <a:prstGeom prst="roundRect">
            <a:avLst>
              <a:gd name="adj" fmla="val 8451"/>
            </a:avLst>
          </a:prstGeom>
          <a:solidFill>
            <a:srgbClr val="1C3526"/>
          </a:solidFill>
          <a:ln w="12700">
            <a:solidFill>
              <a:srgbClr val="4E7A2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" y="3739896"/>
            <a:ext cx="731520" cy="731520"/>
          </a:xfrm>
          <a:prstGeom prst="ellipse">
            <a:avLst/>
          </a:prstGeom>
          <a:solidFill>
            <a:srgbClr val="7CB342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373989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709928" y="3703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709928" y="419709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D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endpoints  ·  </a:t>
            </a:r>
            <a:pPr indent="0" marL="0">
              <a:buNone/>
            </a:pPr>
            <a:r>
              <a:rPr lang="en-US" sz="1150" dirty="0">
                <a:solidFill>
                  <a:srgbClr val="B9C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</a:t>
            </a:r>
            <a:endParaRPr lang="en-US" sz="1150" dirty="0"/>
          </a:p>
        </p:txBody>
      </p:sp>
      <p:sp>
        <p:nvSpPr>
          <p:cNvPr id="28" name="Text 26">
            <a:hlinkClick r:id="rId4" tooltip="Ouvrir : Commandes" action="ppaction://hlinksldjump"/>
          </p:cNvPr>
          <p:cNvSpPr/>
          <p:nvPr/>
        </p:nvSpPr>
        <p:spPr>
          <a:xfrm>
            <a:off x="566928" y="3465576"/>
            <a:ext cx="3611880" cy="129844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379976" y="3465576"/>
            <a:ext cx="3611880" cy="1298448"/>
          </a:xfrm>
          <a:prstGeom prst="roundRect">
            <a:avLst>
              <a:gd name="adj" fmla="val 8451"/>
            </a:avLst>
          </a:prstGeom>
          <a:solidFill>
            <a:srgbClr val="1C3526"/>
          </a:solidFill>
          <a:ln w="12700">
            <a:solidFill>
              <a:srgbClr val="4E7A2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36008" y="3739896"/>
            <a:ext cx="731520" cy="731520"/>
          </a:xfrm>
          <a:prstGeom prst="ellipse">
            <a:avLst/>
          </a:prstGeom>
          <a:solidFill>
            <a:srgbClr val="7CB342"/>
          </a:solidFill>
          <a:ln/>
        </p:spPr>
      </p:sp>
      <p:sp>
        <p:nvSpPr>
          <p:cNvPr id="31" name="Text 29"/>
          <p:cNvSpPr/>
          <p:nvPr/>
        </p:nvSpPr>
        <p:spPr>
          <a:xfrm>
            <a:off x="4636008" y="373989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5522976" y="3703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&amp; Profil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522976" y="419709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D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endpoints  ·  </a:t>
            </a:r>
            <a:pPr indent="0" marL="0">
              <a:buNone/>
            </a:pPr>
            <a:r>
              <a:rPr lang="en-US" sz="1150" dirty="0">
                <a:solidFill>
                  <a:srgbClr val="B9C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</a:t>
            </a:r>
            <a:endParaRPr lang="en-US" sz="1150" dirty="0"/>
          </a:p>
        </p:txBody>
      </p:sp>
      <p:sp>
        <p:nvSpPr>
          <p:cNvPr id="34" name="Text 32">
            <a:hlinkClick r:id="rId5" tooltip="Ouvrir : Authentification &amp; Profil" action="ppaction://hlinksldjump"/>
          </p:cNvPr>
          <p:cNvSpPr/>
          <p:nvPr/>
        </p:nvSpPr>
        <p:spPr>
          <a:xfrm>
            <a:off x="4379976" y="3465576"/>
            <a:ext cx="3611880" cy="129844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8193024" y="3465576"/>
            <a:ext cx="3611880" cy="1298448"/>
          </a:xfrm>
          <a:prstGeom prst="roundRect">
            <a:avLst>
              <a:gd name="adj" fmla="val 8451"/>
            </a:avLst>
          </a:prstGeom>
          <a:solidFill>
            <a:srgbClr val="1C3526"/>
          </a:solidFill>
          <a:ln w="12700">
            <a:solidFill>
              <a:srgbClr val="4E7A2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49056" y="3739896"/>
            <a:ext cx="731520" cy="731520"/>
          </a:xfrm>
          <a:prstGeom prst="ellipse">
            <a:avLst/>
          </a:prstGeom>
          <a:solidFill>
            <a:srgbClr val="7CB342"/>
          </a:solidFill>
          <a:ln/>
        </p:spPr>
      </p:sp>
      <p:sp>
        <p:nvSpPr>
          <p:cNvPr id="37" name="Text 35"/>
          <p:cNvSpPr/>
          <p:nvPr/>
        </p:nvSpPr>
        <p:spPr>
          <a:xfrm>
            <a:off x="8449056" y="373989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9336024" y="3703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336024" y="419709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D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endpoints  ·  </a:t>
            </a:r>
            <a:pPr indent="0" marL="0">
              <a:buNone/>
            </a:pPr>
            <a:r>
              <a:rPr lang="en-US" sz="1150" dirty="0">
                <a:solidFill>
                  <a:srgbClr val="B9C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</a:t>
            </a:r>
            <a:endParaRPr lang="en-US" sz="1150" dirty="0"/>
          </a:p>
        </p:txBody>
      </p:sp>
      <p:sp>
        <p:nvSpPr>
          <p:cNvPr id="40" name="Text 38">
            <a:hlinkClick r:id="rId6" tooltip="Ouvrir : Favoris" action="ppaction://hlinksldjump"/>
          </p:cNvPr>
          <p:cNvSpPr/>
          <p:nvPr/>
        </p:nvSpPr>
        <p:spPr>
          <a:xfrm>
            <a:off x="8193024" y="3465576"/>
            <a:ext cx="3611880" cy="129844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566928" y="4965192"/>
            <a:ext cx="3611880" cy="1298448"/>
          </a:xfrm>
          <a:prstGeom prst="roundRect">
            <a:avLst>
              <a:gd name="adj" fmla="val 8451"/>
            </a:avLst>
          </a:prstGeom>
          <a:solidFill>
            <a:srgbClr val="1C3526"/>
          </a:solidFill>
          <a:ln w="12700">
            <a:solidFill>
              <a:srgbClr val="4E7A2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22960" y="5239512"/>
            <a:ext cx="731520" cy="731520"/>
          </a:xfrm>
          <a:prstGeom prst="ellipse">
            <a:avLst/>
          </a:prstGeom>
          <a:solidFill>
            <a:srgbClr val="7CB342"/>
          </a:solidFill>
          <a:ln/>
        </p:spPr>
      </p:sp>
      <p:sp>
        <p:nvSpPr>
          <p:cNvPr id="43" name="Text 41"/>
          <p:cNvSpPr/>
          <p:nvPr/>
        </p:nvSpPr>
        <p:spPr>
          <a:xfrm>
            <a:off x="822960" y="5239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1709928" y="52029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Adresses de livraison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709928" y="56967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D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endpoints  ·  </a:t>
            </a:r>
            <a:pPr indent="0" marL="0">
              <a:buNone/>
            </a:pPr>
            <a:r>
              <a:rPr lang="en-US" sz="1150" dirty="0">
                <a:solidFill>
                  <a:srgbClr val="B9C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</a:t>
            </a:r>
            <a:endParaRPr lang="en-US" sz="1150" dirty="0"/>
          </a:p>
        </p:txBody>
      </p:sp>
      <p:sp>
        <p:nvSpPr>
          <p:cNvPr id="46" name="Text 44">
            <a:hlinkClick r:id="rId7" tooltip="Ouvrir : Adresses de livraison" action="ppaction://hlinksldjump"/>
          </p:cNvPr>
          <p:cNvSpPr/>
          <p:nvPr/>
        </p:nvSpPr>
        <p:spPr>
          <a:xfrm>
            <a:off x="566928" y="4965192"/>
            <a:ext cx="3611880" cy="129844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4379976" y="4965192"/>
            <a:ext cx="3611880" cy="1298448"/>
          </a:xfrm>
          <a:prstGeom prst="roundRect">
            <a:avLst>
              <a:gd name="adj" fmla="val 8451"/>
            </a:avLst>
          </a:prstGeom>
          <a:solidFill>
            <a:srgbClr val="1C3526"/>
          </a:solidFill>
          <a:ln w="12700">
            <a:solidFill>
              <a:srgbClr val="4E7A2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636008" y="5239512"/>
            <a:ext cx="731520" cy="731520"/>
          </a:xfrm>
          <a:prstGeom prst="ellipse">
            <a:avLst/>
          </a:prstGeom>
          <a:solidFill>
            <a:srgbClr val="7CB342"/>
          </a:solidFill>
          <a:ln/>
        </p:spPr>
      </p:sp>
      <p:sp>
        <p:nvSpPr>
          <p:cNvPr id="49" name="Text 47"/>
          <p:cNvSpPr/>
          <p:nvPr/>
        </p:nvSpPr>
        <p:spPr>
          <a:xfrm>
            <a:off x="4636008" y="5239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Ct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5522976" y="52029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/ Messages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5522976" y="56967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D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endpoints  ·  </a:t>
            </a:r>
            <a:pPr indent="0" marL="0">
              <a:buNone/>
            </a:pPr>
            <a:r>
              <a:rPr lang="en-US" sz="1150" dirty="0">
                <a:solidFill>
                  <a:srgbClr val="B9C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1150" dirty="0"/>
          </a:p>
        </p:txBody>
      </p:sp>
      <p:sp>
        <p:nvSpPr>
          <p:cNvPr id="52" name="Text 50">
            <a:hlinkClick r:id="rId8" tooltip="Ouvrir : Contact / Messages" action="ppaction://hlinksldjump"/>
          </p:cNvPr>
          <p:cNvSpPr/>
          <p:nvPr/>
        </p:nvSpPr>
        <p:spPr>
          <a:xfrm>
            <a:off x="4379976" y="4965192"/>
            <a:ext cx="3611880" cy="129844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Shape 51"/>
          <p:cNvSpPr/>
          <p:nvPr/>
        </p:nvSpPr>
        <p:spPr>
          <a:xfrm>
            <a:off x="8193024" y="4965192"/>
            <a:ext cx="3611880" cy="1298448"/>
          </a:xfrm>
          <a:prstGeom prst="roundRect">
            <a:avLst>
              <a:gd name="adj" fmla="val 8451"/>
            </a:avLst>
          </a:prstGeom>
          <a:solidFill>
            <a:srgbClr val="1C3526"/>
          </a:solidFill>
          <a:ln w="12700">
            <a:solidFill>
              <a:srgbClr val="4E7A2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449056" y="5239512"/>
            <a:ext cx="731520" cy="731520"/>
          </a:xfrm>
          <a:prstGeom prst="ellipse">
            <a:avLst/>
          </a:prstGeom>
          <a:solidFill>
            <a:srgbClr val="7CB342"/>
          </a:solidFill>
          <a:ln/>
        </p:spPr>
      </p:sp>
      <p:sp>
        <p:nvSpPr>
          <p:cNvPr id="55" name="Text 53"/>
          <p:cNvSpPr/>
          <p:nvPr/>
        </p:nvSpPr>
        <p:spPr>
          <a:xfrm>
            <a:off x="8449056" y="5239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</a:t>
            </a:r>
            <a:endParaRPr lang="en-US" sz="2400" dirty="0"/>
          </a:p>
        </p:txBody>
      </p:sp>
      <p:sp>
        <p:nvSpPr>
          <p:cNvPr id="56" name="Text 54"/>
          <p:cNvSpPr/>
          <p:nvPr/>
        </p:nvSpPr>
        <p:spPr>
          <a:xfrm>
            <a:off x="9336024" y="52029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Admin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9336024" y="56967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D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endpoints  ·  </a:t>
            </a:r>
            <a:pPr indent="0" marL="0">
              <a:buNone/>
            </a:pPr>
            <a:r>
              <a:rPr lang="en-US" sz="1150" dirty="0">
                <a:solidFill>
                  <a:srgbClr val="B9C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50" dirty="0"/>
          </a:p>
        </p:txBody>
      </p:sp>
      <p:sp>
        <p:nvSpPr>
          <p:cNvPr id="58" name="Text 56">
            <a:hlinkClick r:id="rId9" tooltip="Ouvrir : Espace Admin" action="ppaction://hlinksldjump"/>
          </p:cNvPr>
          <p:cNvSpPr/>
          <p:nvPr/>
        </p:nvSpPr>
        <p:spPr>
          <a:xfrm>
            <a:off x="8193024" y="4965192"/>
            <a:ext cx="3611880" cy="129844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868680" cy="868680"/>
          </a:xfrm>
          <a:prstGeom prst="ellipse">
            <a:avLst/>
          </a:prstGeom>
          <a:solidFill>
            <a:srgbClr val="7CB342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1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600200" y="475488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Produits &amp; Catalogue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627632" y="98755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cœur du site : fiches produits et rayons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732520" y="566928"/>
            <a:ext cx="1554480" cy="274320"/>
          </a:xfrm>
          <a:prstGeom prst="roundRect">
            <a:avLst>
              <a:gd name="adj" fmla="val 13333"/>
            </a:avLst>
          </a:prstGeom>
          <a:solidFill>
            <a:srgbClr val="EAF3DD"/>
          </a:solidFill>
          <a:ln/>
        </p:spPr>
      </p:sp>
      <p:sp>
        <p:nvSpPr>
          <p:cNvPr id="7" name="Text 5"/>
          <p:cNvSpPr/>
          <p:nvPr/>
        </p:nvSpPr>
        <p:spPr>
          <a:xfrm>
            <a:off x="8732520" y="5669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: Public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362895" y="384048"/>
            <a:ext cx="1325880" cy="365760"/>
          </a:xfrm>
          <a:prstGeom prst="roundRect">
            <a:avLst>
              <a:gd name="adj" fmla="val 20000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9" name="Text 7">
            <a:hlinkClick r:id="rId1" tooltip="Aller au menu" action="ppaction://hlinksldjump"/>
          </p:cNvPr>
          <p:cNvSpPr/>
          <p:nvPr/>
        </p:nvSpPr>
        <p:spPr>
          <a:xfrm>
            <a:off x="10362895" y="38404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Aller au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 Menu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14813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CHAÎNE D'APPEL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" y="1737360"/>
            <a:ext cx="1321308" cy="384048"/>
          </a:xfrm>
          <a:prstGeom prst="roundRect">
            <a:avLst>
              <a:gd name="adj" fmla="val 14286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737360"/>
            <a:ext cx="13213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produitRoutes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888236" y="1737360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199132" y="1737360"/>
            <a:ext cx="1632204" cy="384048"/>
          </a:xfrm>
          <a:prstGeom prst="roundRect">
            <a:avLst>
              <a:gd name="adj" fmla="val 14286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99132" y="1737360"/>
            <a:ext cx="16322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produitController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831336" y="1737360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142232" y="1737360"/>
            <a:ext cx="1399032" cy="384048"/>
          </a:xfrm>
          <a:prstGeom prst="roundRect">
            <a:avLst>
              <a:gd name="adj" fmla="val 14286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42232" y="1737360"/>
            <a:ext cx="1399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produitService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541264" y="1737360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852160" y="1737360"/>
            <a:ext cx="1243584" cy="384048"/>
          </a:xfrm>
          <a:prstGeom prst="roundRect">
            <a:avLst>
              <a:gd name="adj" fmla="val 14286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52160" y="1737360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produitModel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095744" y="1737360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406640" y="1737360"/>
            <a:ext cx="822960" cy="384048"/>
          </a:xfrm>
          <a:prstGeom prst="roundRect">
            <a:avLst>
              <a:gd name="adj" fmla="val 14286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06640" y="173736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66928" y="23317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105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578608"/>
          <a:ext cx="717804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788920"/>
                <a:gridCol w="731520"/>
                <a:gridCol w="2697480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Méthode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3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3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3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 de l'endpoint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31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62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/api/produits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E6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Liste filtrée : catégorie, recherche, marque, prix, tri, pagination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62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/api/produits/marques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E6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Marques distinctes (pour le filtre)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62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/api/produits/:id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E6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Détail par id numérique OU par slug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62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/api/categories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E6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Liste des catégories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62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/api/categories/:slug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E6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Une catégorie par son slug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62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/api/produits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E6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Création produit (admin)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6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62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/api/produits/:id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6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E6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Mise à jour produit (admin)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62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/api/produits/:id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E6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Suppression produit (admin)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1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7973568" y="2331720"/>
            <a:ext cx="3657600" cy="3931920"/>
          </a:xfrm>
          <a:prstGeom prst="roundRect">
            <a:avLst>
              <a:gd name="adj" fmla="val 3000"/>
            </a:avLst>
          </a:prstGeom>
          <a:solidFill>
            <a:srgbClr val="F3F7EC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8229600" y="2542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MÉTIER SERVEUR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229600" y="2880360"/>
            <a:ext cx="31546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publique ; création / modification / suppression réservées à l'admin.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de colonnes nommées (jamais SELECT *), renommage snake_case → camelCase.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construit dynamiquement avec des paramètres ? (anti-injection).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sur liste blanche (prix, nom, populaire, nouveauté) — pas d'injection ORDER BY.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Champs specs / options / images / tags stockés en JSON.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 optionnelle : renvoie { data, total, page, limit }.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PearTech · API REST backend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868680" cy="868680"/>
          </a:xfrm>
          <a:prstGeom prst="ellipse">
            <a:avLst/>
          </a:prstGeom>
          <a:solidFill>
            <a:srgbClr val="7CB342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1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600200" y="475488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Panier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627632" y="98755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panier par client, recalculé côté serveur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732520" y="566928"/>
            <a:ext cx="1554480" cy="274320"/>
          </a:xfrm>
          <a:prstGeom prst="roundRect">
            <a:avLst>
              <a:gd name="adj" fmla="val 13333"/>
            </a:avLst>
          </a:prstGeom>
          <a:solidFill>
            <a:srgbClr val="FBF0D8"/>
          </a:solidFill>
          <a:ln/>
        </p:spPr>
      </p:sp>
      <p:sp>
        <p:nvSpPr>
          <p:cNvPr id="7" name="Text 5"/>
          <p:cNvSpPr/>
          <p:nvPr/>
        </p:nvSpPr>
        <p:spPr>
          <a:xfrm>
            <a:off x="8732520" y="5669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: Connecte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362895" y="384048"/>
            <a:ext cx="1325880" cy="365760"/>
          </a:xfrm>
          <a:prstGeom prst="roundRect">
            <a:avLst>
              <a:gd name="adj" fmla="val 20000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9" name="Text 7">
            <a:hlinkClick r:id="rId1" tooltip="Aller au menu" action="ppaction://hlinksldjump"/>
          </p:cNvPr>
          <p:cNvSpPr/>
          <p:nvPr/>
        </p:nvSpPr>
        <p:spPr>
          <a:xfrm>
            <a:off x="10362895" y="38404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Aller au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 Menu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14813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CHAÎNE D'APPEL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" y="1737360"/>
            <a:ext cx="1243584" cy="384048"/>
          </a:xfrm>
          <a:prstGeom prst="roundRect">
            <a:avLst>
              <a:gd name="adj" fmla="val 14286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737360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panierRoutes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810512" y="1737360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121408" y="1737360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21408" y="17373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panierController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675888" y="1737360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986784" y="1737360"/>
            <a:ext cx="1321308" cy="384048"/>
          </a:xfrm>
          <a:prstGeom prst="roundRect">
            <a:avLst>
              <a:gd name="adj" fmla="val 14286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86784" y="1737360"/>
            <a:ext cx="13213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panierService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308092" y="1737360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18988" y="1737360"/>
            <a:ext cx="2176272" cy="384048"/>
          </a:xfrm>
          <a:prstGeom prst="roundRect">
            <a:avLst>
              <a:gd name="adj" fmla="val 14286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18988" y="1737360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panierModel + utils/prix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795260" y="1737360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106156" y="1737360"/>
            <a:ext cx="1632204" cy="384048"/>
          </a:xfrm>
          <a:prstGeom prst="roundRect">
            <a:avLst>
              <a:gd name="adj" fmla="val 14286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06156" y="1737360"/>
            <a:ext cx="16322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/ cart_items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66928" y="23317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105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578608"/>
          <a:ext cx="717804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788920"/>
                <a:gridCol w="731520"/>
                <a:gridCol w="2697480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Méthode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3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3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3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 de l'endpoint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31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62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/api/panier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E6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Contenu + prix unitaires recalculés + 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62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/api/panier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E6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Ajoute un produit (ou cumule la quantité)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6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62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/api/panier/:produitId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6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E6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Définit la quantité exacte d'une ligne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62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/api/panier/:produitId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E6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Retire une ligne du panier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62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/api/panier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E6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 tout le panier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7973568" y="2331720"/>
            <a:ext cx="3657600" cy="3931920"/>
          </a:xfrm>
          <a:prstGeom prst="roundRect">
            <a:avLst>
              <a:gd name="adj" fmla="val 3000"/>
            </a:avLst>
          </a:prstGeom>
          <a:solidFill>
            <a:srgbClr val="F3F7EC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8229600" y="2542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MÉTIER SERVEUR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229600" y="2880360"/>
            <a:ext cx="31546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obligatoire (verifierToken sur toutes les routes).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panier (cart) par utilisateur, créé à la volée s'il n'existe pas.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 l'existence du produit ET le stock avant ajout / modification.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unitaire calculé serveur via utils/prix (prix + suppléments d'options).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DUPLICATE KEY : ré-ajouter un produit cumule la quantité.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Totaux arrondis au centime côté serveur.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PearTech · API REST backend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868680" cy="868680"/>
          </a:xfrm>
          <a:prstGeom prst="ellipse">
            <a:avLst/>
          </a:prstGeom>
          <a:solidFill>
            <a:srgbClr val="7CB342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1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600200" y="475488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Avis (Reviews)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627632" y="98755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et commentaires clients sur les produits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732520" y="566928"/>
            <a:ext cx="1554480" cy="274320"/>
          </a:xfrm>
          <a:prstGeom prst="roundRect">
            <a:avLst>
              <a:gd name="adj" fmla="val 13333"/>
            </a:avLst>
          </a:prstGeom>
          <a:solidFill>
            <a:srgbClr val="FBF0D8"/>
          </a:solidFill>
          <a:ln/>
        </p:spPr>
      </p:sp>
      <p:sp>
        <p:nvSpPr>
          <p:cNvPr id="7" name="Text 5"/>
          <p:cNvSpPr/>
          <p:nvPr/>
        </p:nvSpPr>
        <p:spPr>
          <a:xfrm>
            <a:off x="8732520" y="5669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: Connecte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362895" y="384048"/>
            <a:ext cx="1325880" cy="365760"/>
          </a:xfrm>
          <a:prstGeom prst="roundRect">
            <a:avLst>
              <a:gd name="adj" fmla="val 20000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9" name="Text 7">
            <a:hlinkClick r:id="rId1" tooltip="Aller au menu" action="ppaction://hlinksldjump"/>
          </p:cNvPr>
          <p:cNvSpPr/>
          <p:nvPr/>
        </p:nvSpPr>
        <p:spPr>
          <a:xfrm>
            <a:off x="10362895" y="38404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Aller au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 Menu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14813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CHAÎNE D'APPEL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" y="1737360"/>
            <a:ext cx="1243584" cy="384048"/>
          </a:xfrm>
          <a:prstGeom prst="roundRect">
            <a:avLst>
              <a:gd name="adj" fmla="val 14286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737360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reviewRoutes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810512" y="1737360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121408" y="1737360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21408" y="17373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reviewController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675888" y="1737360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986784" y="1737360"/>
            <a:ext cx="1165860" cy="384048"/>
          </a:xfrm>
          <a:prstGeom prst="roundRect">
            <a:avLst>
              <a:gd name="adj" fmla="val 14286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86784" y="1737360"/>
            <a:ext cx="11658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avisService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152644" y="1737360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63540" y="1737360"/>
            <a:ext cx="1165860" cy="384048"/>
          </a:xfrm>
          <a:prstGeom prst="roundRect">
            <a:avLst>
              <a:gd name="adj" fmla="val 14286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63540" y="1737360"/>
            <a:ext cx="11658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reviewModel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629400" y="1737360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940296" y="1737360"/>
            <a:ext cx="822960" cy="384048"/>
          </a:xfrm>
          <a:prstGeom prst="roundRect">
            <a:avLst>
              <a:gd name="adj" fmla="val 14286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0296" y="173736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66928" y="23317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105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578608"/>
          <a:ext cx="717804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788920"/>
                <a:gridCol w="731520"/>
                <a:gridCol w="2697480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Méthode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3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3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3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 de l'endpoint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31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62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/api/produits/:id/avis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E6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Avis publics d'un produit (+ prénom auteur)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62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/api/reviews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E6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Déposer un avis (note 1-5 + commentaire)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6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62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/api/reviews/:id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6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E6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Modifier SON propre avis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62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/api/reviews/:id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E6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Supprimer SON propre avis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1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7973568" y="2331720"/>
            <a:ext cx="3657600" cy="3931920"/>
          </a:xfrm>
          <a:prstGeom prst="roundRect">
            <a:avLst>
              <a:gd name="adj" fmla="val 3000"/>
            </a:avLst>
          </a:prstGeom>
          <a:solidFill>
            <a:srgbClr val="F3F7EC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8229600" y="2542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MÉTIER SERVEUR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229600" y="2880360"/>
            <a:ext cx="31546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publique ; écriture réservée aux utilisateurs connectés.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bornée 1 à 5 (validée en route ET en service).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 unique (utilisateur, produit) : 1 seul avis par produit → sinon 409.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de propriété : modifier / supprimer l'avis d'autrui → 403.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chaque écriture : recalcul de la note moyenne + nb_avis du produit.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PearTech · API REST backend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868680" cy="868680"/>
          </a:xfrm>
          <a:prstGeom prst="ellipse">
            <a:avLst/>
          </a:prstGeom>
          <a:solidFill>
            <a:srgbClr val="7CB342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1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600200" y="475488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Commandes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627632" y="98755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transactionnelle, prix recalculés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732520" y="566928"/>
            <a:ext cx="1554480" cy="274320"/>
          </a:xfrm>
          <a:prstGeom prst="roundRect">
            <a:avLst>
              <a:gd name="adj" fmla="val 13333"/>
            </a:avLst>
          </a:prstGeom>
          <a:solidFill>
            <a:srgbClr val="FBF0D8"/>
          </a:solidFill>
          <a:ln/>
        </p:spPr>
      </p:sp>
      <p:sp>
        <p:nvSpPr>
          <p:cNvPr id="7" name="Text 5"/>
          <p:cNvSpPr/>
          <p:nvPr/>
        </p:nvSpPr>
        <p:spPr>
          <a:xfrm>
            <a:off x="8732520" y="5669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: Connecte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362895" y="384048"/>
            <a:ext cx="1325880" cy="365760"/>
          </a:xfrm>
          <a:prstGeom prst="roundRect">
            <a:avLst>
              <a:gd name="adj" fmla="val 20000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9" name="Text 7">
            <a:hlinkClick r:id="rId1" tooltip="Aller au menu" action="ppaction://hlinksldjump"/>
          </p:cNvPr>
          <p:cNvSpPr/>
          <p:nvPr/>
        </p:nvSpPr>
        <p:spPr>
          <a:xfrm>
            <a:off x="10362895" y="38404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Aller au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 Menu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14813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CHAÎNE D'APPEL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" y="1737360"/>
            <a:ext cx="1399032" cy="384048"/>
          </a:xfrm>
          <a:prstGeom prst="roundRect">
            <a:avLst>
              <a:gd name="adj" fmla="val 14286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737360"/>
            <a:ext cx="1399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commandeRoutes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965960" y="1737360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276856" y="1737360"/>
            <a:ext cx="1709928" cy="384048"/>
          </a:xfrm>
          <a:prstGeom prst="roundRect">
            <a:avLst>
              <a:gd name="adj" fmla="val 14286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76856" y="1737360"/>
            <a:ext cx="170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commandeController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986784" y="1737360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297680" y="1737360"/>
            <a:ext cx="1476756" cy="384048"/>
          </a:xfrm>
          <a:prstGeom prst="roundRect">
            <a:avLst>
              <a:gd name="adj" fmla="val 14286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0" y="1737360"/>
            <a:ext cx="14767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commandeService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774436" y="1737360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085332" y="1737360"/>
            <a:ext cx="1943100" cy="384048"/>
          </a:xfrm>
          <a:prstGeom prst="roundRect">
            <a:avLst>
              <a:gd name="adj" fmla="val 14286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5332" y="1737360"/>
            <a:ext cx="1943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commandeModel + utils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028432" y="1737360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339328" y="1737360"/>
            <a:ext cx="1865376" cy="384048"/>
          </a:xfrm>
          <a:prstGeom prst="roundRect">
            <a:avLst>
              <a:gd name="adj" fmla="val 14286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39328" y="1737360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 / articles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66928" y="23317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105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578608"/>
          <a:ext cx="717804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788920"/>
                <a:gridCol w="731520"/>
                <a:gridCol w="2697480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Méthode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3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3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3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 de l'endpoint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31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62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/api/commandes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E6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 commandes (avec leurs articles)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62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/api/commandes/:id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E6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Détail d'une commande (scopée à moi)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62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/api/commandes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E6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Commander depuis une liste d'articles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62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/api/commandes/depuis-panier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E6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Commander depuis le panier, puis le vider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6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62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/api/commandes/:id/cancel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6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E6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Annuler (remet les produits en stock)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7973568" y="2331720"/>
            <a:ext cx="3657600" cy="3931920"/>
          </a:xfrm>
          <a:prstGeom prst="roundRect">
            <a:avLst>
              <a:gd name="adj" fmla="val 3000"/>
            </a:avLst>
          </a:prstGeom>
          <a:solidFill>
            <a:srgbClr val="F3F7EC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8229600" y="2542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MÉTIER SERVEUR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229600" y="2880360"/>
            <a:ext cx="31546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serveur RECALCULE toujours les prix depuis la base (zéro confiance au client).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TVA 20 % incluse + frais de port (offerts dès 100 €) via utils/config.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en TRANSACTION : commande + articles + décrément du stock (rollback si erreur).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Annulation : verrou FOR UPDATE + remise en stock + statut « annulée ».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 d'annuler une commande expédiée / livrée / déjà annulée.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de confirmation simulé via utils/email (Nodemailer).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PearTech · API REST backend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868680" cy="868680"/>
          </a:xfrm>
          <a:prstGeom prst="ellipse">
            <a:avLst/>
          </a:prstGeom>
          <a:solidFill>
            <a:srgbClr val="7CB342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1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600200" y="475488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Authentification &amp; Profil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627632" y="98755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Comptes, JWT, bcrypt et gestion du profil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732520" y="566928"/>
            <a:ext cx="1554480" cy="274320"/>
          </a:xfrm>
          <a:prstGeom prst="roundRect">
            <a:avLst>
              <a:gd name="adj" fmla="val 13333"/>
            </a:avLst>
          </a:prstGeom>
          <a:solidFill>
            <a:srgbClr val="FBF0D8"/>
          </a:solidFill>
          <a:ln/>
        </p:spPr>
      </p:sp>
      <p:sp>
        <p:nvSpPr>
          <p:cNvPr id="7" name="Text 5"/>
          <p:cNvSpPr/>
          <p:nvPr/>
        </p:nvSpPr>
        <p:spPr>
          <a:xfrm>
            <a:off x="8732520" y="5669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: Connecte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362895" y="384048"/>
            <a:ext cx="1325880" cy="365760"/>
          </a:xfrm>
          <a:prstGeom prst="roundRect">
            <a:avLst>
              <a:gd name="adj" fmla="val 20000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9" name="Text 7">
            <a:hlinkClick r:id="rId1" tooltip="Aller au menu" action="ppaction://hlinksldjump"/>
          </p:cNvPr>
          <p:cNvSpPr/>
          <p:nvPr/>
        </p:nvSpPr>
        <p:spPr>
          <a:xfrm>
            <a:off x="10362895" y="38404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Aller au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 Menu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14813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CHAÎNE D'APPEL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" y="1737360"/>
            <a:ext cx="1088136" cy="384048"/>
          </a:xfrm>
          <a:prstGeom prst="roundRect">
            <a:avLst>
              <a:gd name="adj" fmla="val 14286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737360"/>
            <a:ext cx="1088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authRoutes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655064" y="1737360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965960" y="1737360"/>
            <a:ext cx="1399032" cy="384048"/>
          </a:xfrm>
          <a:prstGeom prst="roundRect">
            <a:avLst>
              <a:gd name="adj" fmla="val 14286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65960" y="1737360"/>
            <a:ext cx="1399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authController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364992" y="1737360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75888" y="1737360"/>
            <a:ext cx="1165860" cy="384048"/>
          </a:xfrm>
          <a:prstGeom prst="roundRect">
            <a:avLst>
              <a:gd name="adj" fmla="val 14286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75888" y="1737360"/>
            <a:ext cx="11658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authService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41748" y="1737360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152644" y="1737360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52644" y="17373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utilisateurModel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707124" y="1737360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018020" y="1737360"/>
            <a:ext cx="822960" cy="384048"/>
          </a:xfrm>
          <a:prstGeom prst="roundRect">
            <a:avLst>
              <a:gd name="adj" fmla="val 14286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18020" y="173736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66928" y="23317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105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578608"/>
          <a:ext cx="717804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788920"/>
                <a:gridCol w="731520"/>
                <a:gridCol w="2697480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Méthode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3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3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3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 de l'endpoint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31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62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/api/auth/inscription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E6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Créer un compte (hash bcrypt)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62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/api/auth/connexion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E6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connecter (rate-limit 10 / 15 min)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62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/api/auth/refresh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E6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Renouveler l'access token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62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/api/auth/profil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E6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Lire mon profil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6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62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/api/auth/profil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6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E6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Modifier mes informations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6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62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/api/auth/mot-de-passe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6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E6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Changer mon mot de passe (vérifie l'ancien)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1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7973568" y="2331720"/>
            <a:ext cx="3657600" cy="3931920"/>
          </a:xfrm>
          <a:prstGeom prst="roundRect">
            <a:avLst>
              <a:gd name="adj" fmla="val 3000"/>
            </a:avLst>
          </a:prstGeom>
          <a:solidFill>
            <a:srgbClr val="F3F7EC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8229600" y="2542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MÉTIER SERVEUR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229600" y="2880360"/>
            <a:ext cx="31546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Mots de passe hachés bcrypt (10 tours) — jamais renvoyés au client.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access court (1 h) + refresh token long (7 j).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: message d'erreur générique (ne révèle pas email vs mot de passe).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 : 409 si l'email existe déjà.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verifierToken attache req.utilisateur { id, email, role } aux routes protégées.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PearTech · API REST backend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868680" cy="868680"/>
          </a:xfrm>
          <a:prstGeom prst="ellipse">
            <a:avLst/>
          </a:prstGeom>
          <a:solidFill>
            <a:srgbClr val="7CB342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1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600200" y="475488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Favoris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627632" y="98755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 enregistrés, CRUD simple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732520" y="566928"/>
            <a:ext cx="1554480" cy="274320"/>
          </a:xfrm>
          <a:prstGeom prst="roundRect">
            <a:avLst>
              <a:gd name="adj" fmla="val 13333"/>
            </a:avLst>
          </a:prstGeom>
          <a:solidFill>
            <a:srgbClr val="FBF0D8"/>
          </a:solidFill>
          <a:ln/>
        </p:spPr>
      </p:sp>
      <p:sp>
        <p:nvSpPr>
          <p:cNvPr id="7" name="Text 5"/>
          <p:cNvSpPr/>
          <p:nvPr/>
        </p:nvSpPr>
        <p:spPr>
          <a:xfrm>
            <a:off x="8732520" y="5669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: Connecte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362895" y="384048"/>
            <a:ext cx="1325880" cy="365760"/>
          </a:xfrm>
          <a:prstGeom prst="roundRect">
            <a:avLst>
              <a:gd name="adj" fmla="val 20000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9" name="Text 7">
            <a:hlinkClick r:id="rId1" tooltip="Aller au menu" action="ppaction://hlinksldjump"/>
          </p:cNvPr>
          <p:cNvSpPr/>
          <p:nvPr/>
        </p:nvSpPr>
        <p:spPr>
          <a:xfrm>
            <a:off x="10362895" y="38404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Aller au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 Menu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14813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CHAÎNE D'APPEL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" y="1737360"/>
            <a:ext cx="1243584" cy="384048"/>
          </a:xfrm>
          <a:prstGeom prst="roundRect">
            <a:avLst>
              <a:gd name="adj" fmla="val 14286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737360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favoriRoutes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810512" y="1737360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121408" y="1737360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21408" y="17373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favoriController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675888" y="1737360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986784" y="1737360"/>
            <a:ext cx="1321308" cy="384048"/>
          </a:xfrm>
          <a:prstGeom prst="roundRect">
            <a:avLst>
              <a:gd name="adj" fmla="val 14286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86784" y="1737360"/>
            <a:ext cx="13213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(CRUD direct)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308092" y="1737360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18988" y="1737360"/>
            <a:ext cx="1165860" cy="384048"/>
          </a:xfrm>
          <a:prstGeom prst="roundRect">
            <a:avLst>
              <a:gd name="adj" fmla="val 14286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18988" y="1737360"/>
            <a:ext cx="11658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favoriModel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784848" y="1737360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095744" y="1737360"/>
            <a:ext cx="822960" cy="384048"/>
          </a:xfrm>
          <a:prstGeom prst="roundRect">
            <a:avLst>
              <a:gd name="adj" fmla="val 14286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95744" y="173736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66928" y="23317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105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578608"/>
          <a:ext cx="717804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788920"/>
                <a:gridCol w="731520"/>
                <a:gridCol w="2697480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Méthode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3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3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3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 de l'endpoint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31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62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/api/favoris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E6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 produits favoris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62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/api/favoris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E6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Ajouter un favori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62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/api/favoris/:produitId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E6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Retirer un favori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7973568" y="2331720"/>
            <a:ext cx="3657600" cy="3931920"/>
          </a:xfrm>
          <a:prstGeom prst="roundRect">
            <a:avLst>
              <a:gd name="adj" fmla="val 3000"/>
            </a:avLst>
          </a:prstGeom>
          <a:solidFill>
            <a:srgbClr val="F3F7EC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8229600" y="2542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MÉTIER SERVEUR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229600" y="2880360"/>
            <a:ext cx="31546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obligatoire ; chaque favori est lié à l'utilisateur.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 que le produit existe avant l'ajout.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 unique (utilisateur, produit) + INSERT IGNORE : aucun doublon possible.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simple → pas de couche service, le contrôleur appelle directement le modèle.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PearTech · API REST backend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868680" cy="868680"/>
          </a:xfrm>
          <a:prstGeom prst="ellipse">
            <a:avLst/>
          </a:prstGeom>
          <a:solidFill>
            <a:srgbClr val="7CB342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1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600200" y="475488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Adresses de livraison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627632" y="98755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Carnet d'adresses, une seule principale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732520" y="566928"/>
            <a:ext cx="1554480" cy="274320"/>
          </a:xfrm>
          <a:prstGeom prst="roundRect">
            <a:avLst>
              <a:gd name="adj" fmla="val 13333"/>
            </a:avLst>
          </a:prstGeom>
          <a:solidFill>
            <a:srgbClr val="FBF0D8"/>
          </a:solidFill>
          <a:ln/>
        </p:spPr>
      </p:sp>
      <p:sp>
        <p:nvSpPr>
          <p:cNvPr id="7" name="Text 5"/>
          <p:cNvSpPr/>
          <p:nvPr/>
        </p:nvSpPr>
        <p:spPr>
          <a:xfrm>
            <a:off x="8732520" y="5669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: Connecte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362895" y="384048"/>
            <a:ext cx="1325880" cy="365760"/>
          </a:xfrm>
          <a:prstGeom prst="roundRect">
            <a:avLst>
              <a:gd name="adj" fmla="val 20000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9" name="Text 7">
            <a:hlinkClick r:id="rId1" tooltip="Aller au menu" action="ppaction://hlinksldjump"/>
          </p:cNvPr>
          <p:cNvSpPr/>
          <p:nvPr/>
        </p:nvSpPr>
        <p:spPr>
          <a:xfrm>
            <a:off x="10362895" y="38404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Aller au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 Menu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14813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CHAÎNE D'APPEL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" y="1737360"/>
            <a:ext cx="1321308" cy="384048"/>
          </a:xfrm>
          <a:prstGeom prst="roundRect">
            <a:avLst>
              <a:gd name="adj" fmla="val 14286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737360"/>
            <a:ext cx="13213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adresseRoutes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888236" y="1737360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199132" y="1737360"/>
            <a:ext cx="1632204" cy="384048"/>
          </a:xfrm>
          <a:prstGeom prst="roundRect">
            <a:avLst>
              <a:gd name="adj" fmla="val 14286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99132" y="1737360"/>
            <a:ext cx="16322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adresseController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831336" y="1737360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142232" y="1737360"/>
            <a:ext cx="1321308" cy="384048"/>
          </a:xfrm>
          <a:prstGeom prst="roundRect">
            <a:avLst>
              <a:gd name="adj" fmla="val 14286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42232" y="1737360"/>
            <a:ext cx="13213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(CRUD direct)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63540" y="1737360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774436" y="1737360"/>
            <a:ext cx="1243584" cy="384048"/>
          </a:xfrm>
          <a:prstGeom prst="roundRect">
            <a:avLst>
              <a:gd name="adj" fmla="val 14286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74436" y="1737360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adresseModel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018020" y="1737360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328916" y="1737360"/>
            <a:ext cx="822960" cy="384048"/>
          </a:xfrm>
          <a:prstGeom prst="roundRect">
            <a:avLst>
              <a:gd name="adj" fmla="val 14286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28916" y="173736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66928" y="23317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105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578608"/>
          <a:ext cx="717804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788920"/>
                <a:gridCol w="731520"/>
                <a:gridCol w="2697480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Méthode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3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3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3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 de l'endpoint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31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62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/api/adresses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E6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 adresses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62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/api/adresses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E6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Ajouter une adresse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6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62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/api/adresses/:id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6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E6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Modifier une adresse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62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/api/adresses/:id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E6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Supprimer une adresse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1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7973568" y="2331720"/>
            <a:ext cx="3657600" cy="3931920"/>
          </a:xfrm>
          <a:prstGeom prst="roundRect">
            <a:avLst>
              <a:gd name="adj" fmla="val 3000"/>
            </a:avLst>
          </a:prstGeom>
          <a:solidFill>
            <a:srgbClr val="F3F7EC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8229600" y="2542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MÉTIER SERVEUR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229600" y="2880360"/>
            <a:ext cx="31546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obligatoire ; tout est scopé par utilisateur_id.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adresse « principale » : la définir réinitialise les autres.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: nom, rue, code postal et ville obligatoires.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simple → contrôleur direct vers le modèle, sans service.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PearTech · API REST backend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868680" cy="868680"/>
          </a:xfrm>
          <a:prstGeom prst="ellipse">
            <a:avLst/>
          </a:prstGeom>
          <a:solidFill>
            <a:srgbClr val="7CB342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1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600200" y="475488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Contact / Messages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627632" y="98755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public, lecture admin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732520" y="566928"/>
            <a:ext cx="1554480" cy="274320"/>
          </a:xfrm>
          <a:prstGeom prst="roundRect">
            <a:avLst>
              <a:gd name="adj" fmla="val 13333"/>
            </a:avLst>
          </a:prstGeom>
          <a:solidFill>
            <a:srgbClr val="EAF3DD"/>
          </a:solidFill>
          <a:ln/>
        </p:spPr>
      </p:sp>
      <p:sp>
        <p:nvSpPr>
          <p:cNvPr id="7" name="Text 5"/>
          <p:cNvSpPr/>
          <p:nvPr/>
        </p:nvSpPr>
        <p:spPr>
          <a:xfrm>
            <a:off x="8732520" y="5669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: Public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362895" y="384048"/>
            <a:ext cx="1325880" cy="365760"/>
          </a:xfrm>
          <a:prstGeom prst="roundRect">
            <a:avLst>
              <a:gd name="adj" fmla="val 20000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9" name="Text 7">
            <a:hlinkClick r:id="rId1" tooltip="Aller au menu" action="ppaction://hlinksldjump"/>
          </p:cNvPr>
          <p:cNvSpPr/>
          <p:nvPr/>
        </p:nvSpPr>
        <p:spPr>
          <a:xfrm>
            <a:off x="10362895" y="38404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Aller au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 Menu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14813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CHAÎNE D'APPEL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" y="1737360"/>
            <a:ext cx="1321308" cy="384048"/>
          </a:xfrm>
          <a:prstGeom prst="roundRect">
            <a:avLst>
              <a:gd name="adj" fmla="val 14286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737360"/>
            <a:ext cx="13213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messageRoutes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888236" y="1737360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199132" y="1737360"/>
            <a:ext cx="1632204" cy="384048"/>
          </a:xfrm>
          <a:prstGeom prst="roundRect">
            <a:avLst>
              <a:gd name="adj" fmla="val 14286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99132" y="1737360"/>
            <a:ext cx="16322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messageController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831336" y="1737360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142232" y="1737360"/>
            <a:ext cx="1321308" cy="384048"/>
          </a:xfrm>
          <a:prstGeom prst="roundRect">
            <a:avLst>
              <a:gd name="adj" fmla="val 14286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42232" y="1737360"/>
            <a:ext cx="13213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(CRUD direct)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63540" y="1737360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774436" y="1737360"/>
            <a:ext cx="1243584" cy="384048"/>
          </a:xfrm>
          <a:prstGeom prst="roundRect">
            <a:avLst>
              <a:gd name="adj" fmla="val 14286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74436" y="1737360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messageModel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018020" y="1737360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328916" y="1737360"/>
            <a:ext cx="822960" cy="384048"/>
          </a:xfrm>
          <a:prstGeom prst="roundRect">
            <a:avLst>
              <a:gd name="adj" fmla="val 14286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28916" y="173736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66928" y="23317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105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578608"/>
          <a:ext cx="717804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788920"/>
                <a:gridCol w="731520"/>
                <a:gridCol w="2697480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Méthode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3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3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3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 de l'endpoint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31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62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/api/contact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E6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Envoyer un message (formulaire public)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62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/api/contact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E6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Consulter les messages reçus (admin)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1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7973568" y="2331720"/>
            <a:ext cx="3657600" cy="3931920"/>
          </a:xfrm>
          <a:prstGeom prst="roundRect">
            <a:avLst>
              <a:gd name="adj" fmla="val 3000"/>
            </a:avLst>
          </a:prstGeom>
          <a:solidFill>
            <a:srgbClr val="F3F7EC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8229600" y="2542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MÉTIER SERVEUR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229600" y="2880360"/>
            <a:ext cx="31546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Envoi ouvert à tous, avec validation (nom, email, sujet, message ≥ 5 caractères).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réservée à l'admin (verifierToken + verifierAdmin).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Stocké dans messages_contact ; visible dans l'espace d'administration.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PearTech · API REST backend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868680" cy="868680"/>
          </a:xfrm>
          <a:prstGeom prst="ellipse">
            <a:avLst/>
          </a:prstGeom>
          <a:solidFill>
            <a:srgbClr val="7CB342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1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600200" y="475488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Espace Admin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627632" y="98755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bord, stats, commandes, comptes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732520" y="566928"/>
            <a:ext cx="1554480" cy="274320"/>
          </a:xfrm>
          <a:prstGeom prst="roundRect">
            <a:avLst>
              <a:gd name="adj" fmla="val 13333"/>
            </a:avLst>
          </a:prstGeom>
          <a:solidFill>
            <a:srgbClr val="FBE5E5"/>
          </a:solidFill>
          <a:ln/>
        </p:spPr>
      </p:sp>
      <p:sp>
        <p:nvSpPr>
          <p:cNvPr id="7" name="Text 5"/>
          <p:cNvSpPr/>
          <p:nvPr/>
        </p:nvSpPr>
        <p:spPr>
          <a:xfrm>
            <a:off x="8732520" y="5669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: Admin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362895" y="384048"/>
            <a:ext cx="1325880" cy="365760"/>
          </a:xfrm>
          <a:prstGeom prst="roundRect">
            <a:avLst>
              <a:gd name="adj" fmla="val 20000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9" name="Text 7">
            <a:hlinkClick r:id="rId1" tooltip="Aller au menu" action="ppaction://hlinksldjump"/>
          </p:cNvPr>
          <p:cNvSpPr/>
          <p:nvPr/>
        </p:nvSpPr>
        <p:spPr>
          <a:xfrm>
            <a:off x="10362895" y="38404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Aller au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 Menu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14813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CHAÎNE D'APPEL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" y="1737360"/>
            <a:ext cx="1165860" cy="384048"/>
          </a:xfrm>
          <a:prstGeom prst="roundRect">
            <a:avLst>
              <a:gd name="adj" fmla="val 14286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737360"/>
            <a:ext cx="11658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adminRoutes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732788" y="1737360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043684" y="1737360"/>
            <a:ext cx="1476756" cy="384048"/>
          </a:xfrm>
          <a:prstGeom prst="roundRect">
            <a:avLst>
              <a:gd name="adj" fmla="val 14286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43684" y="1737360"/>
            <a:ext cx="14767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adminController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520440" y="1737360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831336" y="1737360"/>
            <a:ext cx="2798064" cy="384048"/>
          </a:xfrm>
          <a:prstGeom prst="roundRect">
            <a:avLst>
              <a:gd name="adj" fmla="val 14286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31336" y="1737360"/>
            <a:ext cx="2798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statService + utilisateurService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629400" y="1737360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940296" y="1737360"/>
            <a:ext cx="854964" cy="384048"/>
          </a:xfrm>
          <a:prstGeom prst="roundRect">
            <a:avLst>
              <a:gd name="adj" fmla="val 14286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0296" y="1737360"/>
            <a:ext cx="8549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795260" y="1737360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106156" y="1737360"/>
            <a:ext cx="822960" cy="384048"/>
          </a:xfrm>
          <a:prstGeom prst="roundRect">
            <a:avLst>
              <a:gd name="adj" fmla="val 14286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06156" y="173736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66928" y="23317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105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578608"/>
          <a:ext cx="717804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788920"/>
                <a:gridCol w="731520"/>
                <a:gridCol w="2697480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Méthode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3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3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3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 de l'endpoint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31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62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/api/admin/stats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E6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Chiffres clés du tableau de bord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62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/api/admin/statistics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E6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produits, CA / mois, visites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62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/api/admin/logs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E6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Derniers logs applicatifs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62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/api/admin/commandes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E6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Toutes les commandes (tous clients)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6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62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/api/admin/commandes/:id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6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E6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Changer le statut d'une commande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62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/api/admin/utilisateurs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E6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Liste des utilisateurs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6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62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/api/admin/utilisateurs/:id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6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E6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Modifier un utilisateur (rôle…)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62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/api/admin/utilisateurs/:id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E6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Supprimer un utilisateur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62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/api/admin/messages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E6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Messages de contact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7973568" y="2331720"/>
            <a:ext cx="3657600" cy="3931920"/>
          </a:xfrm>
          <a:prstGeom prst="roundRect">
            <a:avLst>
              <a:gd name="adj" fmla="val 3000"/>
            </a:avLst>
          </a:prstGeom>
          <a:solidFill>
            <a:srgbClr val="F3F7EC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8229600" y="2542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MÉTIER SERVEUR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229600" y="2880360"/>
            <a:ext cx="31546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routes : verifierToken + verifierAdmin (rôle admin obligatoire).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de commande validé sur liste blanche (en attente, payée, expédiée, livrée, annulée).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admin ne peut pas supprimer son propre compte.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 utilisateur validé sur liste blanche (client / admin).</a:t>
            </a:r>
            <a:endParaRPr lang="en-US" sz="1150" dirty="0"/>
          </a:p>
          <a:p>
            <a:pPr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= agrégations SQL (COUNT, SUM, AVG, GROUP BY) alimentées par le middleware journal.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PearTech · API REST backend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MÉTIER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 fonctionne le panier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362895" y="384048"/>
            <a:ext cx="1325880" cy="365760"/>
          </a:xfrm>
          <a:prstGeom prst="roundRect">
            <a:avLst>
              <a:gd name="adj" fmla="val 20000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5" name="Text 3">
            <a:hlinkClick r:id="rId1" tooltip="Aller au menu" action="ppaction://hlinksldjump"/>
          </p:cNvPr>
          <p:cNvSpPr/>
          <p:nvPr/>
        </p:nvSpPr>
        <p:spPr>
          <a:xfrm>
            <a:off x="10362895" y="38404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Aller au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 Menu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1554480"/>
            <a:ext cx="6309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panier (cart) par utilisateur, créé à la volée au 1er ajout.</a:t>
            </a:r>
            <a:endParaRPr lang="en-US" sz="1250" dirty="0"/>
          </a:p>
          <a:p>
            <a:pPr marL="177800" indent="-1778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produit = 1 ligne (cart_items). Clé unique (cart, produit).</a:t>
            </a:r>
            <a:endParaRPr lang="en-US" sz="1250" dirty="0"/>
          </a:p>
          <a:p>
            <a:pPr marL="177800" indent="-1778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prix n'est PAS stocké : recalculé à l'affichage (utils/prix).</a:t>
            </a:r>
            <a:endParaRPr lang="en-US" sz="1250" dirty="0"/>
          </a:p>
          <a:p>
            <a:pPr marL="177800" indent="-1778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ajout vérifie d'abord le stock du produit.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3520440"/>
            <a:ext cx="6309360" cy="2194560"/>
          </a:xfrm>
          <a:prstGeom prst="roundRect">
            <a:avLst>
              <a:gd name="adj" fmla="val 4167"/>
            </a:avLst>
          </a:prstGeom>
          <a:solidFill>
            <a:srgbClr val="11231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721608"/>
            <a:ext cx="5806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8FB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panierModel.js — ajouter au panier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cart_items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(cart_id, produit_id, quantite, options)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 (?, ?, ?, ?)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DUPLICATE KEY UPDATE         -- deja present ?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quantite = quantite + VALUES(quantite);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577900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Ré-ajouter un produit cumule la quantité au lieu d'échouer.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040880" y="1783080"/>
            <a:ext cx="4709160" cy="4023360"/>
          </a:xfrm>
          <a:prstGeom prst="roundRect">
            <a:avLst>
              <a:gd name="adj" fmla="val 2727"/>
            </a:avLst>
          </a:prstGeom>
          <a:solidFill>
            <a:srgbClr val="F3F7EC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0" y="2057400"/>
            <a:ext cx="4160520" cy="640080"/>
          </a:xfrm>
          <a:prstGeom prst="roundRect">
            <a:avLst>
              <a:gd name="adj" fmla="val 11429"/>
            </a:avLst>
          </a:prstGeom>
          <a:solidFill>
            <a:srgbClr val="EAF3DD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0" y="20574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  —  utilisateur #4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498080" y="2880360"/>
            <a:ext cx="38404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35240" y="293522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 15 Pro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635240" y="32278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cart_items · x1 · 512 Go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498080" y="3657600"/>
            <a:ext cx="38404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35240" y="371246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MacBook Air M3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635240" y="40050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cart_items · x2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498080" y="4434840"/>
            <a:ext cx="38404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35240" y="448970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AirPods Pro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635240" y="47823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cart_items · x1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315200" y="5440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cart  →  N cart_items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PearTech · API REST backend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MÉTIER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note moyenne se recalcule toute seule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362895" y="384048"/>
            <a:ext cx="1325880" cy="365760"/>
          </a:xfrm>
          <a:prstGeom prst="roundRect">
            <a:avLst>
              <a:gd name="adj" fmla="val 20000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5" name="Text 3">
            <a:hlinkClick r:id="rId1" tooltip="Aller au menu" action="ppaction://hlinksldjump"/>
          </p:cNvPr>
          <p:cNvSpPr/>
          <p:nvPr/>
        </p:nvSpPr>
        <p:spPr>
          <a:xfrm>
            <a:off x="10362895" y="38404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Aller au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 Menu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1600200"/>
            <a:ext cx="6126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client connecté laisse une note (1 à 5) + un commentaire sur un produit.</a:t>
            </a:r>
            <a:endParaRPr lang="en-US" sz="1300" dirty="0"/>
          </a:p>
          <a:p>
            <a:pPr marL="177800" indent="-1778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 unique (utilisateur, produit) : un seul avis par produit. Un second → erreur 409.</a:t>
            </a:r>
            <a:endParaRPr lang="en-US" sz="1300" dirty="0"/>
          </a:p>
          <a:p>
            <a:pPr marL="177800" indent="-1778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ne peut modifier / supprimer QUE son propre avis (sinon 403).</a:t>
            </a:r>
            <a:endParaRPr lang="en-US" sz="1300" dirty="0"/>
          </a:p>
          <a:p>
            <a:pPr marL="177800" indent="-1778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chaque écriture, recalculerNoteProduit() met à jour le produit automatiquement.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040880" y="1783080"/>
            <a:ext cx="4709160" cy="1828800"/>
          </a:xfrm>
          <a:prstGeom prst="roundRect">
            <a:avLst>
              <a:gd name="adj" fmla="val 6000"/>
            </a:avLst>
          </a:prstGeom>
          <a:solidFill>
            <a:srgbClr val="11231A"/>
          </a:solidFill>
          <a:ln/>
        </p:spPr>
      </p:sp>
      <p:sp>
        <p:nvSpPr>
          <p:cNvPr id="8" name="Text 6"/>
          <p:cNvSpPr/>
          <p:nvPr/>
        </p:nvSpPr>
        <p:spPr>
          <a:xfrm>
            <a:off x="7269480" y="193852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ED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recalculerNoteProduit()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269480" y="233172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AVG(note), COUNT(*)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reviews WHERE produit_id = ?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ED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UPDATE produits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ED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 note = ?, nb_avis = 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040880" y="3840480"/>
            <a:ext cx="4709160" cy="1371600"/>
          </a:xfrm>
          <a:prstGeom prst="roundRect">
            <a:avLst>
              <a:gd name="adj" fmla="val 8000"/>
            </a:avLst>
          </a:prstGeom>
          <a:solidFill>
            <a:srgbClr val="EAF3DD"/>
          </a:solidFill>
          <a:ln/>
        </p:spPr>
      </p:sp>
      <p:sp>
        <p:nvSpPr>
          <p:cNvPr id="11" name="Text 9"/>
          <p:cNvSpPr/>
          <p:nvPr/>
        </p:nvSpPr>
        <p:spPr>
          <a:xfrm>
            <a:off x="7269480" y="3977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269480" y="4279392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35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colonnes note et nb_avis du produit reflètent toujours la réalité, sans calcul à refaire à l'affichage du catalogue.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4572000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donnée « dénormalisée » (la moyenne stockée) tenue à jour à chaque changement : lecture du catalogue ultra-rapide.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PearTech · API REST backend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MÉTIER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stock, du panier à la commande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362895" y="384048"/>
            <a:ext cx="1325880" cy="365760"/>
          </a:xfrm>
          <a:prstGeom prst="roundRect">
            <a:avLst>
              <a:gd name="adj" fmla="val 20000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5" name="Text 3">
            <a:hlinkClick r:id="rId1" tooltip="Aller au menu" action="ppaction://hlinksldjump"/>
          </p:cNvPr>
          <p:cNvSpPr/>
          <p:nvPr/>
        </p:nvSpPr>
        <p:spPr>
          <a:xfrm>
            <a:off x="10362895" y="38404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Aller au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 Menu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E3EEFB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95528" y="18288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95528" y="23317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 panier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95528" y="2651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 stock ≥ qté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29000" y="1691640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EAF3DD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0" y="18288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657600" y="23317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0" y="2651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− qté (transaction)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91072" y="1691640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FBF0D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19672" y="18288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A6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519672" y="23317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Annulation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19672" y="2651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+ qté (remise)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53144" y="1691640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FBE5E5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381744" y="18288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9381744" y="23317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381744" y="2651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 si stock ≤ 5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" y="3383280"/>
            <a:ext cx="6126480" cy="2240280"/>
          </a:xfrm>
          <a:prstGeom prst="roundRect">
            <a:avLst>
              <a:gd name="adj" fmla="val 4082"/>
            </a:avLst>
          </a:prstGeom>
          <a:solidFill>
            <a:srgbClr val="11231A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3584448"/>
            <a:ext cx="5623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8FB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commandeModel.js — dans la transaction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produits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stock = GREATEST(stock - ?, 0)  -- jamais &lt; 0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id = ?;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8FB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annulation : on remet la quantite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stock = stock + ?;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49440" y="3520440"/>
            <a:ext cx="4800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7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GREATEST(stock − q, 0) empêche tout stock négatif.</a:t>
            </a:r>
            <a:endParaRPr lang="en-US" sz="1250" dirty="0"/>
          </a:p>
          <a:p>
            <a:pPr marL="177800" indent="-177800">
              <a:lnSpc>
                <a:spcPct val="107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Décrément DANS la transaction → stock et commande cohérents.</a:t>
            </a:r>
            <a:endParaRPr lang="en-US" sz="1250" dirty="0"/>
          </a:p>
          <a:p>
            <a:pPr marL="177800" indent="-177800">
              <a:lnSpc>
                <a:spcPct val="107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Annuler une commande remet les quantités en stock.</a:t>
            </a:r>
            <a:endParaRPr lang="en-US" sz="1250" dirty="0"/>
          </a:p>
          <a:p>
            <a:pPr marL="177800" indent="-177800">
              <a:lnSpc>
                <a:spcPct val="107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admin : produits à stock bas (≤ 5) signalés.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PearTech · API REST backend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12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ED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ADMINISTRATION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back-office : accès &amp; périmètre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11183112" cy="1097280"/>
          </a:xfrm>
          <a:prstGeom prst="roundRect">
            <a:avLst>
              <a:gd name="adj" fmla="val 10000"/>
            </a:avLst>
          </a:prstGeom>
          <a:solidFill>
            <a:srgbClr val="1C3526"/>
          </a:solidFill>
          <a:ln w="12700">
            <a:solidFill>
              <a:srgbClr val="4E7A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46304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ED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verrou —  </a:t>
            </a:r>
            <a:pPr indent="0" marL="0">
              <a:buNone/>
            </a:pPr>
            <a:r>
              <a:rPr lang="en-US" sz="1300" dirty="0">
                <a:solidFill>
                  <a:srgbClr val="C7D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router.use(verifierToken, verifierAdmin) protège TOUTES les routes /api/admin : 401 si non connecté, 403 si connecté mais pas admin. Un admin est simplement un utilisateur avec role = 'admin' (cf. RBAC).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AED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EXPLOREZ — cliquez une carte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3108960"/>
            <a:ext cx="2148840" cy="1737360"/>
          </a:xfrm>
          <a:prstGeom prst="roundRect">
            <a:avLst>
              <a:gd name="adj" fmla="val 5263"/>
            </a:avLst>
          </a:prstGeom>
          <a:solidFill>
            <a:srgbClr val="1C3526"/>
          </a:solidFill>
          <a:ln w="12700">
            <a:solidFill>
              <a:srgbClr val="4E7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3310128"/>
            <a:ext cx="457200" cy="457200"/>
          </a:xfrm>
          <a:prstGeom prst="ellipse">
            <a:avLst/>
          </a:prstGeom>
          <a:solidFill>
            <a:srgbClr val="7CB342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9808" y="3840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49808" y="43159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9C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chiffres clés du site</a:t>
            </a:r>
            <a:endParaRPr lang="en-US" sz="1050" dirty="0"/>
          </a:p>
        </p:txBody>
      </p:sp>
      <p:sp>
        <p:nvSpPr>
          <p:cNvPr id="12" name="Text 10">
            <a:hlinkClick r:id="rId1" tooltip="Ouvrir : Tableau de bord" action="ppaction://hlinksldjump"/>
          </p:cNvPr>
          <p:cNvSpPr/>
          <p:nvPr/>
        </p:nvSpPr>
        <p:spPr>
          <a:xfrm>
            <a:off x="566928" y="3108960"/>
            <a:ext cx="2148840" cy="17373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880360" y="3108960"/>
            <a:ext cx="2148840" cy="1737360"/>
          </a:xfrm>
          <a:prstGeom prst="roundRect">
            <a:avLst>
              <a:gd name="adj" fmla="val 5263"/>
            </a:avLst>
          </a:prstGeom>
          <a:solidFill>
            <a:srgbClr val="1C3526"/>
          </a:solidFill>
          <a:ln w="12700">
            <a:solidFill>
              <a:srgbClr val="4E7A2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63240" y="3310128"/>
            <a:ext cx="457200" cy="457200"/>
          </a:xfrm>
          <a:prstGeom prst="ellipse">
            <a:avLst/>
          </a:prstGeom>
          <a:solidFill>
            <a:srgbClr val="7CB342"/>
          </a:solidFill>
          <a:ln/>
        </p:spPr>
      </p:sp>
      <p:sp>
        <p:nvSpPr>
          <p:cNvPr id="15" name="Text 13"/>
          <p:cNvSpPr/>
          <p:nvPr/>
        </p:nvSpPr>
        <p:spPr>
          <a:xfrm>
            <a:off x="3063240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063240" y="3840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063240" y="43159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9C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produits · CA/mois · visites</a:t>
            </a:r>
            <a:endParaRPr lang="en-US" sz="1050" dirty="0"/>
          </a:p>
        </p:txBody>
      </p:sp>
      <p:sp>
        <p:nvSpPr>
          <p:cNvPr id="18" name="Text 16">
            <a:hlinkClick r:id="rId2" tooltip="Ouvrir : Statistiques" action="ppaction://hlinksldjump"/>
          </p:cNvPr>
          <p:cNvSpPr/>
          <p:nvPr/>
        </p:nvSpPr>
        <p:spPr>
          <a:xfrm>
            <a:off x="2880360" y="3108960"/>
            <a:ext cx="2148840" cy="17373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193792" y="3108960"/>
            <a:ext cx="2148840" cy="1737360"/>
          </a:xfrm>
          <a:prstGeom prst="roundRect">
            <a:avLst>
              <a:gd name="adj" fmla="val 5263"/>
            </a:avLst>
          </a:prstGeom>
          <a:solidFill>
            <a:srgbClr val="1C3526"/>
          </a:solidFill>
          <a:ln w="12700">
            <a:solidFill>
              <a:srgbClr val="4E7A2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76672" y="3310128"/>
            <a:ext cx="457200" cy="457200"/>
          </a:xfrm>
          <a:prstGeom prst="ellipse">
            <a:avLst/>
          </a:prstGeom>
          <a:solidFill>
            <a:srgbClr val="7CB342"/>
          </a:solidFill>
          <a:ln/>
        </p:spPr>
      </p:sp>
      <p:sp>
        <p:nvSpPr>
          <p:cNvPr id="21" name="Text 19"/>
          <p:cNvSpPr/>
          <p:nvPr/>
        </p:nvSpPr>
        <p:spPr>
          <a:xfrm>
            <a:off x="5376672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376672" y="3840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376672" y="43159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9C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 tout · changer le statut</a:t>
            </a:r>
            <a:endParaRPr lang="en-US" sz="1050" dirty="0"/>
          </a:p>
        </p:txBody>
      </p:sp>
      <p:sp>
        <p:nvSpPr>
          <p:cNvPr id="24" name="Text 22">
            <a:hlinkClick r:id="rId3" tooltip="Ouvrir : Commandes" action="ppaction://hlinksldjump"/>
          </p:cNvPr>
          <p:cNvSpPr/>
          <p:nvPr/>
        </p:nvSpPr>
        <p:spPr>
          <a:xfrm>
            <a:off x="5193792" y="3108960"/>
            <a:ext cx="2148840" cy="17373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7507224" y="3108960"/>
            <a:ext cx="2148840" cy="1737360"/>
          </a:xfrm>
          <a:prstGeom prst="roundRect">
            <a:avLst>
              <a:gd name="adj" fmla="val 5263"/>
            </a:avLst>
          </a:prstGeom>
          <a:solidFill>
            <a:srgbClr val="1C3526"/>
          </a:solidFill>
          <a:ln w="12700">
            <a:solidFill>
              <a:srgbClr val="4E7A2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90104" y="3310128"/>
            <a:ext cx="457200" cy="457200"/>
          </a:xfrm>
          <a:prstGeom prst="ellipse">
            <a:avLst/>
          </a:prstGeom>
          <a:solidFill>
            <a:srgbClr val="7CB342"/>
          </a:solidFill>
          <a:ln/>
        </p:spPr>
      </p:sp>
      <p:sp>
        <p:nvSpPr>
          <p:cNvPr id="27" name="Text 25"/>
          <p:cNvSpPr/>
          <p:nvPr/>
        </p:nvSpPr>
        <p:spPr>
          <a:xfrm>
            <a:off x="7690104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690104" y="3840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Utilisateurs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7690104" y="43159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9C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rôles · suppression sécurisée</a:t>
            </a:r>
            <a:endParaRPr lang="en-US" sz="1050" dirty="0"/>
          </a:p>
        </p:txBody>
      </p:sp>
      <p:sp>
        <p:nvSpPr>
          <p:cNvPr id="30" name="Text 28">
            <a:hlinkClick r:id="rId4" tooltip="Ouvrir : Utilisateurs" action="ppaction://hlinksldjump"/>
          </p:cNvPr>
          <p:cNvSpPr/>
          <p:nvPr/>
        </p:nvSpPr>
        <p:spPr>
          <a:xfrm>
            <a:off x="7507224" y="3108960"/>
            <a:ext cx="2148840" cy="17373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9820656" y="3108960"/>
            <a:ext cx="2148840" cy="1737360"/>
          </a:xfrm>
          <a:prstGeom prst="roundRect">
            <a:avLst>
              <a:gd name="adj" fmla="val 5263"/>
            </a:avLst>
          </a:prstGeom>
          <a:solidFill>
            <a:srgbClr val="1C3526"/>
          </a:solidFill>
          <a:ln w="12700">
            <a:solidFill>
              <a:srgbClr val="4E7A2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003536" y="3310128"/>
            <a:ext cx="457200" cy="457200"/>
          </a:xfrm>
          <a:prstGeom prst="ellipse">
            <a:avLst/>
          </a:prstGeom>
          <a:solidFill>
            <a:srgbClr val="7CB342"/>
          </a:solidFill>
          <a:ln/>
        </p:spPr>
      </p:sp>
      <p:sp>
        <p:nvSpPr>
          <p:cNvPr id="33" name="Text 31"/>
          <p:cNvSpPr/>
          <p:nvPr/>
        </p:nvSpPr>
        <p:spPr>
          <a:xfrm>
            <a:off x="10003536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0003536" y="3840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&amp; logs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0003536" y="43159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9C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 reçus · journal</a:t>
            </a:r>
            <a:endParaRPr lang="en-US" sz="1050" dirty="0"/>
          </a:p>
        </p:txBody>
      </p:sp>
      <p:sp>
        <p:nvSpPr>
          <p:cNvPr id="36" name="Text 34">
            <a:hlinkClick r:id="rId5" tooltip="Ouvrir : Messages &amp; logs" action="ppaction://hlinksldjump"/>
          </p:cNvPr>
          <p:cNvSpPr/>
          <p:nvPr/>
        </p:nvSpPr>
        <p:spPr>
          <a:xfrm>
            <a:off x="9820656" y="3108960"/>
            <a:ext cx="2148840" cy="17373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ADMIN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Tableau de bord : les chiffres clés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362895" y="384048"/>
            <a:ext cx="1325880" cy="365760"/>
          </a:xfrm>
          <a:prstGeom prst="roundRect">
            <a:avLst>
              <a:gd name="adj" fmla="val 20000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5" name="Text 3">
            <a:hlinkClick r:id="rId1" tooltip="Aller au menu" action="ppaction://hlinksldjump"/>
          </p:cNvPr>
          <p:cNvSpPr/>
          <p:nvPr/>
        </p:nvSpPr>
        <p:spPr>
          <a:xfrm>
            <a:off x="10362895" y="38404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Aller au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 Menu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945575" y="384048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7" name="Text 5">
            <a:hlinkClick r:id="rId2" tooltip="Retour" action="ppaction://hlinksldjump"/>
          </p:cNvPr>
          <p:cNvSpPr/>
          <p:nvPr/>
        </p:nvSpPr>
        <p:spPr>
          <a:xfrm>
            <a:off x="8945575" y="384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Retou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Admin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13716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/api/admin/stats agrège l'état du site en une seule réponse, via des agrégations SQL simples.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1920240"/>
            <a:ext cx="2606040" cy="1024128"/>
          </a:xfrm>
          <a:prstGeom prst="roundRect">
            <a:avLst>
              <a:gd name="adj" fmla="val 8929"/>
            </a:avLst>
          </a:prstGeom>
          <a:solidFill>
            <a:srgbClr val="F3F7EC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9808" y="20299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4E7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128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749808" y="25420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10128" y="1920240"/>
            <a:ext cx="2606040" cy="1024128"/>
          </a:xfrm>
          <a:prstGeom prst="roundRect">
            <a:avLst>
              <a:gd name="adj" fmla="val 8929"/>
            </a:avLst>
          </a:prstGeom>
          <a:solidFill>
            <a:srgbClr val="F3F7EC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93008" y="20299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4E7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342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3493008" y="25420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063240"/>
            <a:ext cx="2606040" cy="1024128"/>
          </a:xfrm>
          <a:prstGeom prst="roundRect">
            <a:avLst>
              <a:gd name="adj" fmla="val 8929"/>
            </a:avLst>
          </a:prstGeom>
          <a:solidFill>
            <a:srgbClr val="F3F7EC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49808" y="31729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4E7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48 920 €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749808" y="36850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 d'affaires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310128" y="3063240"/>
            <a:ext cx="2606040" cy="1024128"/>
          </a:xfrm>
          <a:prstGeom prst="roundRect">
            <a:avLst>
              <a:gd name="adj" fmla="val 8929"/>
            </a:avLst>
          </a:prstGeom>
          <a:solidFill>
            <a:srgbClr val="F3F7EC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93008" y="31729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4E7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1 204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3493008" y="36850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66928" y="4206240"/>
            <a:ext cx="2606040" cy="1024128"/>
          </a:xfrm>
          <a:prstGeom prst="roundRect">
            <a:avLst>
              <a:gd name="adj" fmla="val 8929"/>
            </a:avLst>
          </a:prstGeom>
          <a:solidFill>
            <a:srgbClr val="F3F7EC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9808" y="43159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4E7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536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749808" y="48280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310128" y="4206240"/>
            <a:ext cx="2606040" cy="1024128"/>
          </a:xfrm>
          <a:prstGeom prst="roundRect">
            <a:avLst>
              <a:gd name="adj" fmla="val 8929"/>
            </a:avLst>
          </a:prstGeom>
          <a:solidFill>
            <a:srgbClr val="FBE5E5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493008" y="43159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300" dirty="0"/>
          </a:p>
        </p:txBody>
      </p:sp>
      <p:sp>
        <p:nvSpPr>
          <p:cNvPr id="26" name="Text 24"/>
          <p:cNvSpPr/>
          <p:nvPr/>
        </p:nvSpPr>
        <p:spPr>
          <a:xfrm>
            <a:off x="3493008" y="48280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bas ≤ 5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63640" y="1920240"/>
            <a:ext cx="5486400" cy="2240280"/>
          </a:xfrm>
          <a:prstGeom prst="roundRect">
            <a:avLst>
              <a:gd name="adj" fmla="val 4082"/>
            </a:avLst>
          </a:prstGeom>
          <a:solidFill>
            <a:srgbClr val="11231A"/>
          </a:solidFill>
          <a:ln/>
        </p:spPr>
      </p:sp>
      <p:sp>
        <p:nvSpPr>
          <p:cNvPr id="28" name="Text 26"/>
          <p:cNvSpPr/>
          <p:nvPr/>
        </p:nvSpPr>
        <p:spPr>
          <a:xfrm>
            <a:off x="6519672" y="2121408"/>
            <a:ext cx="49834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8FB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statService.js — dashboard()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COUNT(*), SUM(stock) FROM produits;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COUNT(*), SUM(total) FROM commandes; -- CA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COUNT(*) FROM utilisateurs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WHERE role = 'client';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COUNT(*) FROM produits WHERE stock &lt;= 5;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63640" y="438912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7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agrégation SQL (COUNT / SUM) par indicateur.</a:t>
            </a:r>
            <a:endParaRPr lang="en-US" sz="1250" dirty="0"/>
          </a:p>
          <a:p>
            <a:pPr marL="177800" indent="-177800">
              <a:lnSpc>
                <a:spcPct val="107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chiffre d'affaires = SUM(total) de toutes les commandes.</a:t>
            </a:r>
            <a:endParaRPr lang="en-US" sz="1250" dirty="0"/>
          </a:p>
          <a:p>
            <a:pPr marL="177800" indent="-177800">
              <a:lnSpc>
                <a:spcPct val="107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nombre de visites vient de la table statistiques (journal).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PearTech · API REST backend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ADMIN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Statistiques : agrégations avancées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362895" y="384048"/>
            <a:ext cx="1325880" cy="365760"/>
          </a:xfrm>
          <a:prstGeom prst="roundRect">
            <a:avLst>
              <a:gd name="adj" fmla="val 20000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5" name="Text 3">
            <a:hlinkClick r:id="rId1" tooltip="Aller au menu" action="ppaction://hlinksldjump"/>
          </p:cNvPr>
          <p:cNvSpPr/>
          <p:nvPr/>
        </p:nvSpPr>
        <p:spPr>
          <a:xfrm>
            <a:off x="10362895" y="38404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Aller au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 Menu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945575" y="384048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7" name="Text 5">
            <a:hlinkClick r:id="rId2" tooltip="Retour" action="ppaction://hlinksldjump"/>
          </p:cNvPr>
          <p:cNvSpPr/>
          <p:nvPr/>
        </p:nvSpPr>
        <p:spPr>
          <a:xfrm>
            <a:off x="8945575" y="384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Retou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Admin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13716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/api/admin/statistics — le GROUP BY est le cœur des stats : regrouper les lignes pour les compter et les sommer.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1874520"/>
            <a:ext cx="5623560" cy="3383280"/>
          </a:xfrm>
          <a:prstGeom prst="roundRect">
            <a:avLst>
              <a:gd name="adj" fmla="val 2703"/>
            </a:avLst>
          </a:prstGeom>
          <a:solidFill>
            <a:srgbClr val="11231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075688"/>
            <a:ext cx="5120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top produits vendus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nom_produit, SUM(quantite) AS vendu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commande_articles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produit_id ORDER BY vendu DESC LIMIT 5;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chiffre d'affaires par mois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DATE_FORMAT(cree_le,'%Y-%m') AS mois,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SUM(total) FROM commandes GROUP BY mois;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pages les plus visitees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chemin, COUNT(*) FROM statistiques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chemin ORDER BY COUNT(*) DESC;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537960" y="18288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 d'affaires par mois (€)</a:t>
            </a:r>
            <a:endParaRPr lang="en-US" sz="13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6400800" y="2194560"/>
          <a:ext cx="53492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Text 10"/>
          <p:cNvSpPr/>
          <p:nvPr/>
        </p:nvSpPr>
        <p:spPr>
          <a:xfrm>
            <a:off x="566928" y="544068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produits via commande_articles · visites via la table statistiques alimentée par le middleware journal.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PearTech · API REST backend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ADMIN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Gérer les commandes de tous les clients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362895" y="384048"/>
            <a:ext cx="1325880" cy="365760"/>
          </a:xfrm>
          <a:prstGeom prst="roundRect">
            <a:avLst>
              <a:gd name="adj" fmla="val 20000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5" name="Text 3">
            <a:hlinkClick r:id="rId1" tooltip="Aller au menu" action="ppaction://hlinksldjump"/>
          </p:cNvPr>
          <p:cNvSpPr/>
          <p:nvPr/>
        </p:nvSpPr>
        <p:spPr>
          <a:xfrm>
            <a:off x="10362895" y="38404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Aller au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 Menu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945575" y="384048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7" name="Text 5">
            <a:hlinkClick r:id="rId2" tooltip="Retour" action="ppaction://hlinksldjump"/>
          </p:cNvPr>
          <p:cNvSpPr/>
          <p:nvPr/>
        </p:nvSpPr>
        <p:spPr>
          <a:xfrm>
            <a:off x="8945575" y="384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Retou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Admin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13716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/api/admin/commandes liste toutes les commandes (avec le client) ; PUT /api/admin/commandes/:id fait avancer le statut.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" y="1874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CYCLE DE VIE D'UNE COMMANDE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219456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1945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attente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615184" y="2514600"/>
            <a:ext cx="292608" cy="0"/>
          </a:xfrm>
          <a:prstGeom prst="line">
            <a:avLst/>
          </a:prstGeom>
          <a:noFill/>
          <a:ln w="25400">
            <a:solidFill>
              <a:srgbClr val="7CB34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944368" y="219456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E3EEFB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44368" y="21945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payée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992624" y="2514600"/>
            <a:ext cx="292608" cy="0"/>
          </a:xfrm>
          <a:prstGeom prst="line">
            <a:avLst/>
          </a:prstGeom>
          <a:noFill/>
          <a:ln w="25400">
            <a:solidFill>
              <a:srgbClr val="7CB34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321808" y="219456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FBF0D8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21808" y="21945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expédiée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70064" y="2514600"/>
            <a:ext cx="292608" cy="0"/>
          </a:xfrm>
          <a:prstGeom prst="line">
            <a:avLst/>
          </a:prstGeom>
          <a:noFill/>
          <a:ln w="25400">
            <a:solidFill>
              <a:srgbClr val="7CB34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699248" y="219456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EAF3DD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99248" y="21945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livrée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921240" y="2194560"/>
            <a:ext cx="1737360" cy="640080"/>
          </a:xfrm>
          <a:prstGeom prst="roundRect">
            <a:avLst>
              <a:gd name="adj" fmla="val 11429"/>
            </a:avLst>
          </a:prstGeom>
          <a:solidFill>
            <a:srgbClr val="FBE5E5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21240" y="21945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annulée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66928" y="3246120"/>
            <a:ext cx="6949440" cy="2011680"/>
          </a:xfrm>
          <a:prstGeom prst="roundRect">
            <a:avLst>
              <a:gd name="adj" fmla="val 4545"/>
            </a:avLst>
          </a:prstGeom>
          <a:solidFill>
            <a:srgbClr val="11231A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3447288"/>
            <a:ext cx="6446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8FB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adminController.js — changer le statut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STATUTS = ['en attente','payée',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'expédiée','livrée','annulée'];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(!STATUTS.includes(statut))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throw { statut: 400, message: 'Statut invalide.' };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Commande.modifierStatut(id, statut);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26680" y="3383280"/>
            <a:ext cx="4023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L'admin voit TOUTES les commandes (jointure sur l'utilisateur).</a:t>
            </a:r>
            <a:endParaRPr lang="en-US" sz="1250" dirty="0"/>
          </a:p>
          <a:p>
            <a:pPr marL="177800" indent="-1778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statut doit appartenir à la liste blanche → sinon 400.</a:t>
            </a:r>
            <a:endParaRPr lang="en-US" sz="1250" dirty="0"/>
          </a:p>
          <a:p>
            <a:pPr marL="177800" indent="-1778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changement = un simple UPDATE du statut.</a:t>
            </a:r>
            <a:endParaRPr lang="en-US" sz="1250" dirty="0"/>
          </a:p>
          <a:p>
            <a:pPr marL="177800" indent="-1778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client, lui, ne peut qu'annuler (et avant expédition).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PearTech · API REST backend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ADMIN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Gérer les comptes utilisateurs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362895" y="384048"/>
            <a:ext cx="1325880" cy="365760"/>
          </a:xfrm>
          <a:prstGeom prst="roundRect">
            <a:avLst>
              <a:gd name="adj" fmla="val 20000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5" name="Text 3">
            <a:hlinkClick r:id="rId1" tooltip="Aller au menu" action="ppaction://hlinksldjump"/>
          </p:cNvPr>
          <p:cNvSpPr/>
          <p:nvPr/>
        </p:nvSpPr>
        <p:spPr>
          <a:xfrm>
            <a:off x="10362895" y="38404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Aller au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 Menu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945575" y="384048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7" name="Text 5">
            <a:hlinkClick r:id="rId2" tooltip="Retour" action="ppaction://hlinksldjump"/>
          </p:cNvPr>
          <p:cNvSpPr/>
          <p:nvPr/>
        </p:nvSpPr>
        <p:spPr>
          <a:xfrm>
            <a:off x="8945575" y="384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Retou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Admin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13716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Lister les comptes, changer un rôle, supprimer — avec des garde-fous contre les erreurs irréversibles.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1920240"/>
            <a:ext cx="6949440" cy="2834640"/>
          </a:xfrm>
          <a:prstGeom prst="roundRect">
            <a:avLst>
              <a:gd name="adj" fmla="val 3226"/>
            </a:avLst>
          </a:prstGeom>
          <a:solidFill>
            <a:srgbClr val="11231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121408"/>
            <a:ext cx="6446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8FB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utilisateurService.js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8FB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garde-fou : ne pas se supprimer soi-meme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(parseInt(id) === adminConnecteId)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throw { statut: 400, message: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'Vous ne pouvez pas supprimer votre compte.' };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8FB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role valide sur liste blanche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ROLES = ['client', 'admin'];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(role &amp;&amp; !ROLES.includes(role))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throw { statut: 400, message: 'Rôle invalide.' };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26680" y="2057400"/>
            <a:ext cx="4023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7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: la liste n'expose jamais les mots de passe.</a:t>
            </a:r>
            <a:endParaRPr lang="en-US" sz="1250" dirty="0"/>
          </a:p>
          <a:p>
            <a:pPr marL="177800" indent="-177800">
              <a:lnSpc>
                <a:spcPct val="107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: promouvoir un client en admin = changer son role.</a:t>
            </a:r>
            <a:endParaRPr lang="en-US" sz="1250" dirty="0"/>
          </a:p>
          <a:p>
            <a:pPr marL="177800" indent="-177800">
              <a:lnSpc>
                <a:spcPct val="107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: un admin ne peut pas supprimer son propre compte.</a:t>
            </a:r>
            <a:endParaRPr lang="en-US" sz="1250" dirty="0"/>
          </a:p>
          <a:p>
            <a:pPr marL="177800" indent="-177800">
              <a:lnSpc>
                <a:spcPct val="107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 validé sur liste blanche : 'client' ou 'admin' uniquement.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PearTech · API REST backend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ADMIN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Messages de contact &amp; journal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362895" y="384048"/>
            <a:ext cx="1325880" cy="365760"/>
          </a:xfrm>
          <a:prstGeom prst="roundRect">
            <a:avLst>
              <a:gd name="adj" fmla="val 20000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5" name="Text 3">
            <a:hlinkClick r:id="rId1" tooltip="Aller au menu" action="ppaction://hlinksldjump"/>
          </p:cNvPr>
          <p:cNvSpPr/>
          <p:nvPr/>
        </p:nvSpPr>
        <p:spPr>
          <a:xfrm>
            <a:off x="10362895" y="38404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Aller au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 Menu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945575" y="384048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7" name="Text 5">
            <a:hlinkClick r:id="rId2" tooltip="Retour" action="ppaction://hlinksldjump"/>
          </p:cNvPr>
          <p:cNvSpPr/>
          <p:nvPr/>
        </p:nvSpPr>
        <p:spPr>
          <a:xfrm>
            <a:off x="8945575" y="384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Retou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Admin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13716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formulaire de contact est public ; sa lecture et la consultation des logs sont réservées à l'admin.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" y="1874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DE CONTACT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2194560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232257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Léa Martin · lea@mail.fr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26151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Sujet : Délai de livraison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2889504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Bonjour, sous combien de temps êtes-vous livré ? »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" y="37490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/api/contact (public) → table messages_contact ; GET /api/contact (admin) pour les lire.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263640" y="1874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APPLICATIF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2194560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11231A"/>
          </a:solidFill>
          <a:ln/>
        </p:spPr>
      </p:sp>
      <p:sp>
        <p:nvSpPr>
          <p:cNvPr id="17" name="Text 15"/>
          <p:cNvSpPr/>
          <p:nvPr/>
        </p:nvSpPr>
        <p:spPr>
          <a:xfrm>
            <a:off x="6519672" y="2395728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/api/admin/logs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[warn]  GET /api/produits/999 -&gt; 404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[error] POST /api/commandes    -&gt; 500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[warn]  POST /api/auth/connexion -&gt; 401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63640" y="37490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/api/admin/logs liste les dernières erreurs (issues du middleware journal) pour diagnostiquer.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4526280"/>
            <a:ext cx="11183112" cy="1234440"/>
          </a:xfrm>
          <a:prstGeom prst="roundRect">
            <a:avLst>
              <a:gd name="adj" fmla="val 7407"/>
            </a:avLst>
          </a:prstGeom>
          <a:solidFill>
            <a:srgbClr val="F1F1EC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" y="4645152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7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: ouvert à tous (validé), stocké, jamais perdu.</a:t>
            </a:r>
            <a:endParaRPr lang="en-US" sz="1200" dirty="0"/>
          </a:p>
          <a:p>
            <a:pPr marL="177800" indent="-177800">
              <a:lnSpc>
                <a:spcPct val="107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: consultés par l'admin, alimentés automatiquement par le journal.</a:t>
            </a:r>
            <a:endParaRPr lang="en-US" sz="1200" dirty="0"/>
          </a:p>
          <a:p>
            <a:pPr marL="177800" indent="-177800">
              <a:lnSpc>
                <a:spcPct val="107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suppression automatique : tout l'historique reste consultable.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PearTech · API REST backend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commande en transaction (commandeModel)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362895" y="384048"/>
            <a:ext cx="1325880" cy="365760"/>
          </a:xfrm>
          <a:prstGeom prst="roundRect">
            <a:avLst>
              <a:gd name="adj" fmla="val 20000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5" name="Text 3">
            <a:hlinkClick r:id="rId1" tooltip="Aller au menu" action="ppaction://hlinksldjump"/>
          </p:cNvPr>
          <p:cNvSpPr/>
          <p:nvPr/>
        </p:nvSpPr>
        <p:spPr>
          <a:xfrm>
            <a:off x="10362895" y="38404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Aller au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 Menu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1554480"/>
            <a:ext cx="7040880" cy="4572000"/>
          </a:xfrm>
          <a:prstGeom prst="roundRect">
            <a:avLst>
              <a:gd name="adj" fmla="val 2000"/>
            </a:avLst>
          </a:prstGeom>
          <a:solidFill>
            <a:srgbClr val="11231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755648"/>
            <a:ext cx="6537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creer(userId, montants, adr, articles) {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cnx = await pool.getConnection();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 {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cnx.beginTransaction();          // on démarre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8FB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1) la commande principale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[cmd] = await cnx.query(`INSERT INTO commandes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(...) VALUES (?, ?, ?, ?, ?, ?)`, [userId, ...]);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commandeId = cmd.insertId;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8FB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2) chaque article + baisse du stock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(const art of articles) {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await cnx.query(`INSERT INTO commande_articles ...`);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await cnx.query('UPDATE produits SET stock =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GREATEST(stock - ?, 0) WHERE id = ?', [...]);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cnx.commit();                    // tout est OK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commandeId;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catch (e) {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cnx.rollback();                  // sinon annule TOUT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 e;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finally { cnx.release(); }             // rend la connexion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1737360"/>
            <a:ext cx="39319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7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getConnection() : une connexion dédiée pour toute la transaction.</a:t>
            </a:r>
            <a:endParaRPr lang="en-US" sz="1250" dirty="0"/>
          </a:p>
          <a:p>
            <a:pPr marL="177800" indent="-177800">
              <a:lnSpc>
                <a:spcPct val="107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commit() valide tout d'un bloc ; rollback() défait tout si une étape casse.</a:t>
            </a:r>
            <a:endParaRPr lang="en-US" sz="1250" dirty="0"/>
          </a:p>
          <a:p>
            <a:pPr marL="177800" indent="-177800">
              <a:lnSpc>
                <a:spcPct val="107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finally release() : la connexion retourne TOUJOURS au pool.</a:t>
            </a:r>
            <a:endParaRPr lang="en-US" sz="1250" dirty="0"/>
          </a:p>
          <a:p>
            <a:pPr marL="177800" indent="-177800">
              <a:lnSpc>
                <a:spcPct val="107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 jamais de commande sans ses lignes, ni de stock faux.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PearTech · API REST backend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requête préparée (produitModel)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362895" y="384048"/>
            <a:ext cx="1325880" cy="365760"/>
          </a:xfrm>
          <a:prstGeom prst="roundRect">
            <a:avLst>
              <a:gd name="adj" fmla="val 20000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5" name="Text 3">
            <a:hlinkClick r:id="rId1" tooltip="Aller au menu" action="ppaction://hlinksldjump"/>
          </p:cNvPr>
          <p:cNvSpPr/>
          <p:nvPr/>
        </p:nvSpPr>
        <p:spPr>
          <a:xfrm>
            <a:off x="10362895" y="38404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Aller au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 Menu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1554480"/>
            <a:ext cx="7040880" cy="4023360"/>
          </a:xfrm>
          <a:prstGeom prst="roundRect">
            <a:avLst>
              <a:gd name="adj" fmla="val 2273"/>
            </a:avLst>
          </a:prstGeom>
          <a:solidFill>
            <a:srgbClr val="11231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755648"/>
            <a:ext cx="6537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FB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On choisit les colonnes (jamais SELECT *)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COLONNES = `id, nom, slug, prix, stock, ...`;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FB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Recherche par id : la valeur passe en paramètre ?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trouverParId(id) {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[lignes] = await pool.query(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`SELECT ${COLONNES} FROM produits WHERE id = ?`,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[id]          // &lt;- traité comme DONNÉE, pas comme code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lignes[0] || null;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FB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Filtre construit dynamiquement, toujours avec des ?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(filtres.marque) {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+= ' AND marque = ?';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params.push(filtres.marque);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F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772400" y="1737360"/>
            <a:ext cx="3931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7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? sépare la requête (code) de la valeur (donnée) → anti-injection.</a:t>
            </a:r>
            <a:endParaRPr lang="en-US" sz="1250" dirty="0"/>
          </a:p>
          <a:p>
            <a:pPr marL="177800" indent="-177800">
              <a:lnSpc>
                <a:spcPct val="107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ne renvoie que les colonnes utiles, renommées en camelCase pour le front.</a:t>
            </a:r>
            <a:endParaRPr lang="en-US" sz="1250" dirty="0"/>
          </a:p>
          <a:p>
            <a:pPr marL="177800" indent="-177800">
              <a:lnSpc>
                <a:spcPct val="107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filtres s'empilent avec AND … ? : flexible et toujours sûr.</a:t>
            </a:r>
            <a:endParaRPr lang="en-US" sz="1250" dirty="0"/>
          </a:p>
          <a:p>
            <a:pPr marL="177800" indent="-177800">
              <a:lnSpc>
                <a:spcPct val="107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même schéma se retrouve dans tous les modèles du projet.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PearTech · API REST backend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CONCRET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Passer une commande, étape par étape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362895" y="384048"/>
            <a:ext cx="1325880" cy="365760"/>
          </a:xfrm>
          <a:prstGeom prst="roundRect">
            <a:avLst>
              <a:gd name="adj" fmla="val 20000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</p:spPr>
      </p:sp>
      <p:sp>
        <p:nvSpPr>
          <p:cNvPr id="5" name="Text 3">
            <a:hlinkClick r:id="rId1" tooltip="Aller au menu" action="ppaction://hlinksldjump"/>
          </p:cNvPr>
          <p:cNvSpPr/>
          <p:nvPr/>
        </p:nvSpPr>
        <p:spPr>
          <a:xfrm>
            <a:off x="10362895" y="38404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4E7A2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Aller au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 Menu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E7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/api/commandes/depuis-panier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87452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95528" y="2103120"/>
            <a:ext cx="457200" cy="457200"/>
          </a:xfrm>
          <a:prstGeom prst="ellipse">
            <a:avLst/>
          </a:prstGeom>
          <a:solidFill>
            <a:srgbClr val="7CB342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89888" y="213055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26517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verifierToken valide le JWT et pose req.utilisateur.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29000" y="187452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0" y="2103120"/>
            <a:ext cx="457200" cy="457200"/>
          </a:xfrm>
          <a:prstGeom prst="ellipse">
            <a:avLst/>
          </a:prstGeom>
          <a:solidFill>
            <a:srgbClr val="7CB342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251960" y="213055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85032" y="26517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 l'utilisateur + l'adresse, délègue au service.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91072" y="187452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19672" y="2103120"/>
            <a:ext cx="457200" cy="457200"/>
          </a:xfrm>
          <a:prstGeom prst="ellipse">
            <a:avLst/>
          </a:prstGeom>
          <a:solidFill>
            <a:srgbClr val="7CB342"/>
          </a:solidFill>
          <a:ln/>
        </p:spPr>
      </p:sp>
      <p:sp>
        <p:nvSpPr>
          <p:cNvPr id="19" name="Text 17"/>
          <p:cNvSpPr/>
          <p:nvPr/>
        </p:nvSpPr>
        <p:spPr>
          <a:xfrm>
            <a:off x="6519672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114032" y="213055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47104" y="26517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 le panier serveur et le transforme en articles.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153144" y="187452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EAF3DD"/>
          </a:solidFill>
          <a:ln w="12700">
            <a:solidFill>
              <a:srgbClr val="D9E2C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381744" y="2103120"/>
            <a:ext cx="457200" cy="457200"/>
          </a:xfrm>
          <a:prstGeom prst="ellipse">
            <a:avLst/>
          </a:prstGeom>
          <a:solidFill>
            <a:srgbClr val="7CB342"/>
          </a:solidFill>
          <a:ln/>
        </p:spPr>
      </p:sp>
      <p:sp>
        <p:nvSpPr>
          <p:cNvPr id="24" name="Text 22"/>
          <p:cNvSpPr/>
          <p:nvPr/>
        </p:nvSpPr>
        <p:spPr>
          <a:xfrm>
            <a:off x="9381744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976104" y="213055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Recalcul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409176" y="26517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Recharge chaque produit, vérifie le stock, recalcule le prix (utils/prix).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66928" y="3904488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95528" y="4133088"/>
            <a:ext cx="457200" cy="457200"/>
          </a:xfrm>
          <a:prstGeom prst="ellipse">
            <a:avLst/>
          </a:prstGeom>
          <a:solidFill>
            <a:srgbClr val="7CB342"/>
          </a:solidFill>
          <a:ln/>
        </p:spPr>
      </p:sp>
      <p:sp>
        <p:nvSpPr>
          <p:cNvPr id="29" name="Text 27"/>
          <p:cNvSpPr/>
          <p:nvPr/>
        </p:nvSpPr>
        <p:spPr>
          <a:xfrm>
            <a:off x="795528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1389888" y="41605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22960" y="4681728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Applique TVA 20 % + frais de port (utils/config).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429000" y="3904488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EAF3DD"/>
          </a:solidFill>
          <a:ln w="12700">
            <a:solidFill>
              <a:srgbClr val="D9E2C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657600" y="4133088"/>
            <a:ext cx="457200" cy="457200"/>
          </a:xfrm>
          <a:prstGeom prst="ellipse">
            <a:avLst/>
          </a:prstGeom>
          <a:solidFill>
            <a:srgbClr val="7CB342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0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4251960" y="41605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3685032" y="4681728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Insère commande + lignes, décrémente le stock. Rollback si erreur.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291072" y="3904488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519672" y="4133088"/>
            <a:ext cx="457200" cy="457200"/>
          </a:xfrm>
          <a:prstGeom prst="ellipse">
            <a:avLst/>
          </a:prstGeom>
          <a:solidFill>
            <a:srgbClr val="7CB342"/>
          </a:solidFill>
          <a:ln/>
        </p:spPr>
      </p:sp>
      <p:sp>
        <p:nvSpPr>
          <p:cNvPr id="39" name="Text 37"/>
          <p:cNvSpPr/>
          <p:nvPr/>
        </p:nvSpPr>
        <p:spPr>
          <a:xfrm>
            <a:off x="6519672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7114032" y="41605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panier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547104" y="4681728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simulée (utils/email), puis vide le panier.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9153144" y="3904488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3F7EC"/>
          </a:solidFill>
          <a:ln w="12700">
            <a:solidFill>
              <a:srgbClr val="D9E2C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9381744" y="4133088"/>
            <a:ext cx="457200" cy="457200"/>
          </a:xfrm>
          <a:prstGeom prst="ellipse">
            <a:avLst/>
          </a:prstGeom>
          <a:solidFill>
            <a:srgbClr val="7CB342"/>
          </a:solidFill>
          <a:ln/>
        </p:spPr>
      </p:sp>
      <p:sp>
        <p:nvSpPr>
          <p:cNvPr id="44" name="Text 42"/>
          <p:cNvSpPr/>
          <p:nvPr/>
        </p:nvSpPr>
        <p:spPr>
          <a:xfrm>
            <a:off x="9381744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9976104" y="41605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9409176" y="4681728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{ commandeId, sousTotal, tva, fraisPort, total }.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566928" y="5943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fil rouge : à l'étape 4, le serveur recalcule TOUT depuis la base — le client ne peut pas imposer un prix. L'étape 6 garantit la cohérence par une transaction.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PearTech · API REST backend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12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ED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RÉSUMÉ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66928" y="1554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backend lisible, sûr et testable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66928" y="2606040"/>
            <a:ext cx="5394960" cy="1417320"/>
          </a:xfrm>
          <a:prstGeom prst="roundRect">
            <a:avLst>
              <a:gd name="adj" fmla="val 7742"/>
            </a:avLst>
          </a:prstGeom>
          <a:solidFill>
            <a:srgbClr val="1C3526"/>
          </a:solidFill>
          <a:ln w="9525">
            <a:solidFill>
              <a:srgbClr val="4E7A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3063240"/>
            <a:ext cx="502920" cy="502920"/>
          </a:xfrm>
          <a:prstGeom prst="ellipse">
            <a:avLst/>
          </a:prstGeom>
          <a:solidFill>
            <a:srgbClr val="7CB342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27048" y="280720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Séparation nette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27048" y="3209544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B9C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→ Controllers → Services → Models : chaque fichier a une seule raison de changer.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90488" y="2606040"/>
            <a:ext cx="5394960" cy="1417320"/>
          </a:xfrm>
          <a:prstGeom prst="roundRect">
            <a:avLst>
              <a:gd name="adj" fmla="val 7742"/>
            </a:avLst>
          </a:prstGeom>
          <a:solidFill>
            <a:srgbClr val="1C3526"/>
          </a:solidFill>
          <a:ln w="9525">
            <a:solidFill>
              <a:srgbClr val="4E7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64808" y="3063240"/>
            <a:ext cx="502920" cy="502920"/>
          </a:xfrm>
          <a:prstGeom prst="ellipse">
            <a:avLst/>
          </a:prstGeom>
          <a:solidFill>
            <a:srgbClr val="7CB342"/>
          </a:solidFill>
          <a:ln/>
        </p:spPr>
      </p:sp>
      <p:sp>
        <p:nvSpPr>
          <p:cNvPr id="11" name="Text 9"/>
          <p:cNvSpPr/>
          <p:nvPr/>
        </p:nvSpPr>
        <p:spPr>
          <a:xfrm>
            <a:off x="6464808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50608" y="280720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 au bon endroit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50608" y="3209544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B9C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pour les règles, Utils pour les calculs partagés, Models pour le SQL préparé.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4251960"/>
            <a:ext cx="5394960" cy="1417320"/>
          </a:xfrm>
          <a:prstGeom prst="roundRect">
            <a:avLst>
              <a:gd name="adj" fmla="val 7742"/>
            </a:avLst>
          </a:prstGeom>
          <a:solidFill>
            <a:srgbClr val="1C3526"/>
          </a:solidFill>
          <a:ln w="9525">
            <a:solidFill>
              <a:srgbClr val="4E7A2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4709160"/>
            <a:ext cx="502920" cy="502920"/>
          </a:xfrm>
          <a:prstGeom prst="ellipse">
            <a:avLst/>
          </a:prstGeom>
          <a:solidFill>
            <a:srgbClr val="7CB342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4709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27048" y="445312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par défaut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27048" y="4855464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B9C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JWT, bcrypt, validation, rate-limit, anti-injection, recalcul serveur systématique.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90488" y="4251960"/>
            <a:ext cx="5394960" cy="1417320"/>
          </a:xfrm>
          <a:prstGeom prst="roundRect">
            <a:avLst>
              <a:gd name="adj" fmla="val 7742"/>
            </a:avLst>
          </a:prstGeom>
          <a:solidFill>
            <a:srgbClr val="1C3526"/>
          </a:solidFill>
          <a:ln w="9525">
            <a:solidFill>
              <a:srgbClr val="4E7A2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64808" y="4709160"/>
            <a:ext cx="502920" cy="502920"/>
          </a:xfrm>
          <a:prstGeom prst="ellipse">
            <a:avLst/>
          </a:prstGeom>
          <a:solidFill>
            <a:srgbClr val="7CB342"/>
          </a:solidFill>
          <a:ln/>
        </p:spPr>
      </p:sp>
      <p:sp>
        <p:nvSpPr>
          <p:cNvPr id="21" name="Text 19"/>
          <p:cNvSpPr/>
          <p:nvPr/>
        </p:nvSpPr>
        <p:spPr>
          <a:xfrm>
            <a:off x="6464808" y="4709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50608" y="445312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Cohérence des données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50608" y="4855464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B9C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sur les commandes, contraintes FK, rôle dans utilisateurs (pas de table admin).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6928" y="6172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3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PearTech · API REST · Node + Express + MySQL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PearTech — Architecture Backend (API REST)</dc:title>
  <dc:subject>PptxGenJS Presentation</dc:subject>
  <dc:creator>PearTech</dc:creator>
  <cp:lastModifiedBy>PearTech</cp:lastModifiedBy>
  <cp:revision>1</cp:revision>
  <dcterms:created xsi:type="dcterms:W3CDTF">2026-06-15T23:10:38Z</dcterms:created>
  <dcterms:modified xsi:type="dcterms:W3CDTF">2026-06-15T23:10:38Z</dcterms:modified>
</cp:coreProperties>
</file>